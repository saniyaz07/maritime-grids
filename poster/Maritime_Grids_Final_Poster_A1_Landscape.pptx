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999" cy="2138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275999" cy="2138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0275999" cy="2592000"/>
          </a:xfrm>
          <a:prstGeom prst="rect">
            <a:avLst/>
          </a:prstGeom>
          <a:solidFill>
            <a:srgbClr val="C5DBEF"/>
          </a:solidFill>
          <a:ln w="15240">
            <a:solidFill>
              <a:srgbClr val="0D2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44000" y="125999"/>
            <a:ext cx="2015999" cy="2088000"/>
          </a:xfrm>
          <a:prstGeom prst="rect">
            <a:avLst/>
          </a:prstGeom>
          <a:solidFill>
            <a:srgbClr val="FFFFFF"/>
          </a:solidFill>
          <a:ln w="6350">
            <a:solidFill>
              <a:srgbClr val="0D2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0000" y="198000"/>
            <a:ext cx="1944000" cy="1944000"/>
          </a:xfrm>
          <a:prstGeom prst="rect">
            <a:avLst/>
          </a:prstGeom>
          <a:noFill/>
        </p:spPr>
        <p:txBody>
          <a:bodyPr wrap="square">
            <a:spAutoFit/>
          </a:bodyPr>
          <a:lstStyle/>
          <a:p>
            <a:pPr algn="ctr"/>
            <a:r>
              <a:rPr sz="680" b="1" i="0">
                <a:solidFill>
                  <a:srgbClr val="0D2C5C"/>
                </a:solidFill>
                <a:latin typeface="Times New Roman"/>
              </a:rPr>
              <a:t>St. Vincent
Pallotti
College
of Engineering
&amp; Technology
Nagpur</a:t>
            </a:r>
          </a:p>
        </p:txBody>
      </p:sp>
      <p:sp>
        <p:nvSpPr>
          <p:cNvPr id="6" name="Rectangle 5"/>
          <p:cNvSpPr/>
          <p:nvPr/>
        </p:nvSpPr>
        <p:spPr>
          <a:xfrm>
            <a:off x="28080000" y="125999"/>
            <a:ext cx="2015999" cy="2088000"/>
          </a:xfrm>
          <a:prstGeom prst="rect">
            <a:avLst/>
          </a:prstGeom>
          <a:solidFill>
            <a:srgbClr val="FFFFFF"/>
          </a:solidFill>
          <a:ln w="6350">
            <a:solidFill>
              <a:srgbClr val="0D2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115999" y="198000"/>
            <a:ext cx="1944000" cy="1944000"/>
          </a:xfrm>
          <a:prstGeom prst="rect">
            <a:avLst/>
          </a:prstGeom>
          <a:noFill/>
        </p:spPr>
        <p:txBody>
          <a:bodyPr wrap="square">
            <a:spAutoFit/>
          </a:bodyPr>
          <a:lstStyle/>
          <a:p>
            <a:pPr algn="ctr"/>
            <a:r>
              <a:rPr sz="900" b="1" i="0">
                <a:solidFill>
                  <a:srgbClr val="0D2C5C"/>
                </a:solidFill>
                <a:latin typeface="Times New Roman"/>
              </a:rPr>
              <a:t>ARISE
&amp;
SHINE</a:t>
            </a:r>
          </a:p>
        </p:txBody>
      </p:sp>
      <p:sp>
        <p:nvSpPr>
          <p:cNvPr id="8" name="TextBox 7"/>
          <p:cNvSpPr txBox="1"/>
          <p:nvPr/>
        </p:nvSpPr>
        <p:spPr>
          <a:xfrm>
            <a:off x="2700000" y="54000"/>
            <a:ext cx="24840000" cy="2448000"/>
          </a:xfrm>
          <a:prstGeom prst="rect">
            <a:avLst/>
          </a:prstGeom>
          <a:noFill/>
        </p:spPr>
        <p:txBody>
          <a:bodyPr wrap="square">
            <a:spAutoFit/>
          </a:bodyPr>
          <a:lstStyle/>
          <a:p>
            <a:pPr algn="ctr">
              <a:spcAft>
                <a:spcPts val="0"/>
              </a:spcAft>
            </a:pPr>
            <a:r>
              <a:rPr sz="1100" b="1">
                <a:solidFill>
                  <a:srgbClr val="0D2C5C"/>
                </a:solidFill>
                <a:latin typeface="Times New Roman"/>
              </a:rPr>
              <a:t>St. Vincent Pallotti College of Engineering &amp; Technology, Nagpur</a:t>
            </a:r>
          </a:p>
          <a:p>
            <a:pPr algn="ctr">
              <a:spcAft>
                <a:spcPts val="0"/>
              </a:spcAft>
            </a:pPr>
            <a:r>
              <a:rPr sz="1000" b="1">
                <a:solidFill>
                  <a:srgbClr val="0D2C5C"/>
                </a:solidFill>
                <a:latin typeface="Times New Roman"/>
              </a:rPr>
              <a:t>Department of Computer Science and Engineering (Data Science)</a:t>
            </a:r>
          </a:p>
          <a:p>
            <a:pPr algn="ctr">
              <a:spcAft>
                <a:spcPts val="0"/>
              </a:spcAft>
            </a:pPr>
            <a:r>
              <a:rPr sz="950" b="0">
                <a:solidFill>
                  <a:srgbClr val="0D2C5C"/>
                </a:solidFill>
                <a:latin typeface="Times New Roman"/>
              </a:rPr>
              <a:t>Academic Session 2025–26</a:t>
            </a:r>
          </a:p>
          <a:p>
            <a:pPr algn="ctr">
              <a:spcAft>
                <a:spcPts val="0"/>
              </a:spcAft>
            </a:pPr>
            <a:r>
              <a:rPr sz="300" b="0">
                <a:solidFill>
                  <a:srgbClr val="FFFFFF"/>
                </a:solidFill>
                <a:latin typeface="Times New Roman"/>
              </a:rPr>
              <a:t> </a:t>
            </a:r>
          </a:p>
          <a:p>
            <a:pPr algn="ctr">
              <a:spcAft>
                <a:spcPts val="0"/>
              </a:spcAft>
            </a:pPr>
            <a:r>
              <a:rPr sz="2400" b="1">
                <a:solidFill>
                  <a:srgbClr val="0D2C5C"/>
                </a:solidFill>
                <a:latin typeface="Times New Roman"/>
              </a:rPr>
              <a:t>MARITIME GRIDS</a:t>
            </a:r>
          </a:p>
          <a:p>
            <a:pPr algn="ctr">
              <a:spcAft>
                <a:spcPts val="0"/>
              </a:spcAft>
            </a:pPr>
            <a:r>
              <a:rPr sz="1050" b="0">
                <a:solidFill>
                  <a:srgbClr val="17559A"/>
                </a:solidFill>
                <a:latin typeface="Times New Roman"/>
              </a:rPr>
              <a:t>Integrated Maritime Voyage Simulation, Energy Modeling, Optimization and Decision Support</a:t>
            </a:r>
          </a:p>
        </p:txBody>
      </p:sp>
      <p:sp>
        <p:nvSpPr>
          <p:cNvPr id="9" name="TextBox 8"/>
          <p:cNvSpPr txBox="1"/>
          <p:nvPr/>
        </p:nvSpPr>
        <p:spPr>
          <a:xfrm>
            <a:off x="2700000" y="2070000"/>
            <a:ext cx="24840000" cy="468000"/>
          </a:xfrm>
          <a:prstGeom prst="rect">
            <a:avLst/>
          </a:prstGeom>
          <a:noFill/>
        </p:spPr>
        <p:txBody>
          <a:bodyPr wrap="square">
            <a:spAutoFit/>
          </a:bodyPr>
          <a:lstStyle/>
          <a:p>
            <a:pPr algn="ctr"/>
            <a:r>
              <a:rPr sz="900" b="0" i="0">
                <a:solidFill>
                  <a:srgbClr val="0D2C5C"/>
                </a:solidFill>
                <a:latin typeface="Calibri"/>
              </a:rPr>
              <a:t>Guide: Dr. Manish Gudadhe                    Team:  Chinmayakumar Shegokar  |  Prajakta Timande  |  Tanushri Tonde  |  Vuha Modala</a:t>
            </a:r>
          </a:p>
        </p:txBody>
      </p:sp>
      <p:sp>
        <p:nvSpPr>
          <p:cNvPr id="10" name="Rectangle 9"/>
          <p:cNvSpPr/>
          <p:nvPr/>
        </p:nvSpPr>
        <p:spPr>
          <a:xfrm>
            <a:off x="0" y="2570400"/>
            <a:ext cx="30275999" cy="21600"/>
          </a:xfrm>
          <a:prstGeom prst="rect">
            <a:avLst/>
          </a:prstGeom>
          <a:solidFill>
            <a:srgbClr val="0D2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200" y="2671200"/>
            <a:ext cx="10007999" cy="2592000"/>
          </a:xfrm>
          <a:prstGeom prst="rect">
            <a:avLst/>
          </a:prstGeom>
          <a:solidFill>
            <a:srgbClr val="F5F7FA"/>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200" y="2671200"/>
            <a:ext cx="10007999" cy="316800"/>
          </a:xfrm>
          <a:prstGeom prst="rect">
            <a:avLst/>
          </a:prstGeom>
          <a:solidFill>
            <a:srgbClr val="17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2399" y="2692800"/>
            <a:ext cx="9921600" cy="280800"/>
          </a:xfrm>
          <a:prstGeom prst="rect">
            <a:avLst/>
          </a:prstGeom>
          <a:noFill/>
        </p:spPr>
        <p:txBody>
          <a:bodyPr wrap="square">
            <a:spAutoFit/>
          </a:bodyPr>
          <a:lstStyle/>
          <a:p>
            <a:pPr algn="ctr"/>
            <a:r>
              <a:rPr sz="880" b="1" i="0">
                <a:solidFill>
                  <a:srgbClr val="FFFFFF"/>
                </a:solidFill>
                <a:latin typeface="Calibri"/>
              </a:rPr>
              <a:t>ABSTRACT</a:t>
            </a:r>
          </a:p>
        </p:txBody>
      </p:sp>
      <p:sp>
        <p:nvSpPr>
          <p:cNvPr id="14" name="TextBox 13"/>
          <p:cNvSpPr txBox="1"/>
          <p:nvPr/>
        </p:nvSpPr>
        <p:spPr>
          <a:xfrm>
            <a:off x="133200" y="3031200"/>
            <a:ext cx="9899999" cy="2188800"/>
          </a:xfrm>
          <a:prstGeom prst="rect">
            <a:avLst/>
          </a:prstGeom>
          <a:noFill/>
        </p:spPr>
        <p:txBody>
          <a:bodyPr wrap="square">
            <a:spAutoFit/>
          </a:bodyPr>
          <a:lstStyle/>
          <a:p>
            <a:pPr algn="l"/>
            <a:r>
              <a:rPr sz="670" b="0" i="0">
                <a:solidFill>
                  <a:srgbClr val="2A2A3A"/>
                </a:solidFill>
                <a:latin typeface="Calibri"/>
              </a:rPr>
              <a:t>Maritime voyage operations require simultaneous management of vessel dynamics, route geometry, environmental conditions (wind, waves, current), fuel and energy consumption, battery behavior, and regulatory compliance. These are typically handled in isolation, creating fragmented decision-making.
Maritime Grids provides an integrated engineering platform combining physics-based voyage simulation, environmental forecast processing, fuel and hybrid energy modeling, multi-objective optimization, IMO/CII emissions analysis, and human-in-the-loop decision support via the Signal Agent.
A Native Virtual Maritime Simulator demonstrates the pipeline end-to-end on the Escravos Terminal → Lagos Port route (250 NM), verified through 975 automated tests.</a:t>
            </a:r>
          </a:p>
        </p:txBody>
      </p:sp>
      <p:sp>
        <p:nvSpPr>
          <p:cNvPr id="15" name="Rectangle 14"/>
          <p:cNvSpPr/>
          <p:nvPr/>
        </p:nvSpPr>
        <p:spPr>
          <a:xfrm>
            <a:off x="79200" y="5335200"/>
            <a:ext cx="10007999" cy="2232000"/>
          </a:xfrm>
          <a:prstGeom prst="rect">
            <a:avLst/>
          </a:prstGeom>
          <a:solidFill>
            <a:srgbClr val="F5F7FA"/>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200" y="5335200"/>
            <a:ext cx="10007999" cy="316800"/>
          </a:xfrm>
          <a:prstGeom prst="rect">
            <a:avLst/>
          </a:prstGeom>
          <a:solidFill>
            <a:srgbClr val="17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2399" y="5356800"/>
            <a:ext cx="9921600" cy="280800"/>
          </a:xfrm>
          <a:prstGeom prst="rect">
            <a:avLst/>
          </a:prstGeom>
          <a:noFill/>
        </p:spPr>
        <p:txBody>
          <a:bodyPr wrap="square">
            <a:spAutoFit/>
          </a:bodyPr>
          <a:lstStyle/>
          <a:p>
            <a:pPr algn="ctr"/>
            <a:r>
              <a:rPr sz="880" b="1" i="0">
                <a:solidFill>
                  <a:srgbClr val="FFFFFF"/>
                </a:solidFill>
                <a:latin typeface="Calibri"/>
              </a:rPr>
              <a:t>PROBLEM STATEMENT</a:t>
            </a:r>
          </a:p>
        </p:txBody>
      </p:sp>
      <p:sp>
        <p:nvSpPr>
          <p:cNvPr id="18" name="TextBox 17"/>
          <p:cNvSpPr txBox="1"/>
          <p:nvPr/>
        </p:nvSpPr>
        <p:spPr>
          <a:xfrm>
            <a:off x="133200" y="5677200"/>
            <a:ext cx="9899999" cy="1872000"/>
          </a:xfrm>
          <a:prstGeom prst="rect">
            <a:avLst/>
          </a:prstGeom>
          <a:noFill/>
        </p:spPr>
        <p:txBody>
          <a:bodyPr wrap="square">
            <a:spAutoFit/>
          </a:bodyPr>
          <a:lstStyle/>
          <a:p>
            <a:pPr algn="l"/>
            <a:r>
              <a:rPr sz="640" b="0" i="0">
                <a:solidFill>
                  <a:srgbClr val="2A2A3A"/>
                </a:solidFill>
                <a:latin typeface="Calibri"/>
              </a:rPr>
              <a:t>Maritime voyage planning requires simultaneous
consideration of:
  • Vessel characteristics &amp; route geometry
  • Wind, waves &amp; ocean current forces
  • Fuel consumption &amp; hybrid energy behavior
  • Battery SOC / SOH evolution
  • Voyage duration, ETA &amp; progress
  • CO₂ emissions &amp; CII/regulatory obligations
  • Economic &amp; engineering trade-offs
These aspects are often handled separately.
Maritime Grids integrates them into one
unified engineering decision platform.</a:t>
            </a:r>
          </a:p>
        </p:txBody>
      </p:sp>
      <p:sp>
        <p:nvSpPr>
          <p:cNvPr id="19" name="Rectangle 18"/>
          <p:cNvSpPr/>
          <p:nvPr/>
        </p:nvSpPr>
        <p:spPr>
          <a:xfrm>
            <a:off x="79200" y="7639200"/>
            <a:ext cx="10007999" cy="3096000"/>
          </a:xfrm>
          <a:prstGeom prst="rect">
            <a:avLst/>
          </a:prstGeom>
          <a:solidFill>
            <a:srgbClr val="F5F7FA"/>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200" y="7639200"/>
            <a:ext cx="10007999" cy="316800"/>
          </a:xfrm>
          <a:prstGeom prst="rect">
            <a:avLst/>
          </a:prstGeom>
          <a:solidFill>
            <a:srgbClr val="17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2399" y="7660799"/>
            <a:ext cx="9921600" cy="280800"/>
          </a:xfrm>
          <a:prstGeom prst="rect">
            <a:avLst/>
          </a:prstGeom>
          <a:noFill/>
        </p:spPr>
        <p:txBody>
          <a:bodyPr wrap="square">
            <a:spAutoFit/>
          </a:bodyPr>
          <a:lstStyle/>
          <a:p>
            <a:pPr algn="ctr"/>
            <a:r>
              <a:rPr sz="880" b="1" i="0">
                <a:solidFill>
                  <a:srgbClr val="FFFFFF"/>
                </a:solidFill>
                <a:latin typeface="Calibri"/>
              </a:rPr>
              <a:t>OBJECTIVES</a:t>
            </a:r>
          </a:p>
        </p:txBody>
      </p:sp>
      <p:sp>
        <p:nvSpPr>
          <p:cNvPr id="22" name="TextBox 21"/>
          <p:cNvSpPr txBox="1"/>
          <p:nvPr/>
        </p:nvSpPr>
        <p:spPr>
          <a:xfrm>
            <a:off x="133200" y="7981199"/>
            <a:ext cx="9899999" cy="2736000"/>
          </a:xfrm>
          <a:prstGeom prst="rect">
            <a:avLst/>
          </a:prstGeom>
          <a:noFill/>
        </p:spPr>
        <p:txBody>
          <a:bodyPr wrap="square">
            <a:spAutoFit/>
          </a:bodyPr>
          <a:lstStyle/>
          <a:p>
            <a:pPr algn="l"/>
            <a:r>
              <a:rPr sz="640" b="0" i="0">
                <a:solidFill>
                  <a:srgbClr val="2A2A3A"/>
                </a:solidFill>
                <a:latin typeface="Calibri"/>
              </a:rPr>
              <a:t>O1  Integrate maritime, environmental, vessel &amp; route
     data into a common engineering platform.
O2  Model vessel movement using physics-based
     maritime simulation.
O3  Estimate fuel, propulsion power &amp; hybrid energy
     (battery + solar) behavior.
O4  Evaluate vessel sizing, speed &amp; energy trade-offs.
O5  Perform optimization, sensitivity, break-even &amp;
     fleet-level engineering analysis.
O6  Analyze emissions &amp; CII/regulatory implications
     of voyage scenarios.
O7  Provide human-in-the-loop operational decision
     support via Signal Agent &amp; Driver Dashboard.</a:t>
            </a:r>
          </a:p>
        </p:txBody>
      </p:sp>
      <p:sp>
        <p:nvSpPr>
          <p:cNvPr id="23" name="Rectangle 22"/>
          <p:cNvSpPr/>
          <p:nvPr/>
        </p:nvSpPr>
        <p:spPr>
          <a:xfrm>
            <a:off x="79200" y="10807199"/>
            <a:ext cx="10007999" cy="3024000"/>
          </a:xfrm>
          <a:prstGeom prst="rect">
            <a:avLst/>
          </a:prstGeom>
          <a:solidFill>
            <a:srgbClr val="F5F7FA"/>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200" y="10807199"/>
            <a:ext cx="10007999" cy="316800"/>
          </a:xfrm>
          <a:prstGeom prst="rect">
            <a:avLst/>
          </a:prstGeom>
          <a:solidFill>
            <a:srgbClr val="17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399" y="10828799"/>
            <a:ext cx="9921600" cy="280800"/>
          </a:xfrm>
          <a:prstGeom prst="rect">
            <a:avLst/>
          </a:prstGeom>
          <a:noFill/>
        </p:spPr>
        <p:txBody>
          <a:bodyPr wrap="square">
            <a:spAutoFit/>
          </a:bodyPr>
          <a:lstStyle/>
          <a:p>
            <a:pPr algn="ctr"/>
            <a:r>
              <a:rPr sz="880" b="1" i="0">
                <a:solidFill>
                  <a:srgbClr val="FFFFFF"/>
                </a:solidFill>
                <a:latin typeface="Calibri"/>
              </a:rPr>
              <a:t>ENVIRONMENTAL INTELLIGENCE</a:t>
            </a:r>
          </a:p>
        </p:txBody>
      </p:sp>
      <p:sp>
        <p:nvSpPr>
          <p:cNvPr id="26" name="TextBox 25"/>
          <p:cNvSpPr txBox="1"/>
          <p:nvPr/>
        </p:nvSpPr>
        <p:spPr>
          <a:xfrm>
            <a:off x="133200" y="11149199"/>
            <a:ext cx="9899999" cy="2664000"/>
          </a:xfrm>
          <a:prstGeom prst="rect">
            <a:avLst/>
          </a:prstGeom>
          <a:noFill/>
        </p:spPr>
        <p:txBody>
          <a:bodyPr wrap="square">
            <a:spAutoFit/>
          </a:bodyPr>
          <a:lstStyle/>
          <a:p>
            <a:pPr algn="l"/>
            <a:r>
              <a:rPr sz="620" b="0" i="0">
                <a:solidFill>
                  <a:srgbClr val="2A2A3A"/>
                </a:solidFill>
                <a:latin typeface="Calibri"/>
              </a:rPr>
              <a:t>Environmental inputs processed by Maritime Grids:
  • Wind Speed &amp; Direction  (m/s, degrees)
  • Significant Wave Height &amp; Period
  • Wave Direction
  • Ocean Current Speed &amp; Direction
  • Air Temperature &amp; Relative Humidity
  • Atmospheric Pressure
  • Solar Irradiance / GHI  (Climatological Est.)
Provider: Open-Meteo Forecast API + Mock Provider
Route Lookahead: Future waypoints evaluated
ahead of vessel position for adverse conditions.
Threshold logic:
  Wind &gt; 25 kn → MET_WIND_HIGH_001
  Waves &gt; 2.5 m → MET_SEA_ROUGH_002
  Ahead adverse → MET_AHEAD_ADVERSE_001</a:t>
            </a:r>
          </a:p>
        </p:txBody>
      </p:sp>
      <p:sp>
        <p:nvSpPr>
          <p:cNvPr id="27" name="Rectangle 26"/>
          <p:cNvSpPr/>
          <p:nvPr/>
        </p:nvSpPr>
        <p:spPr>
          <a:xfrm>
            <a:off x="133200" y="13057199"/>
            <a:ext cx="4928399" cy="720000"/>
          </a:xfrm>
          <a:prstGeom prst="rect">
            <a:avLst/>
          </a:prstGeom>
          <a:solidFill>
            <a:srgbClr val="E8F3FD"/>
          </a:solidFill>
          <a:ln w="6350">
            <a:solidFill>
              <a:srgbClr val="17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2000" y="13100399"/>
            <a:ext cx="4870799" cy="630000"/>
          </a:xfrm>
          <a:prstGeom prst="rect">
            <a:avLst/>
          </a:prstGeom>
          <a:noFill/>
        </p:spPr>
        <p:txBody>
          <a:bodyPr wrap="square">
            <a:spAutoFit/>
          </a:bodyPr>
          <a:lstStyle/>
          <a:p>
            <a:pPr algn="ctr">
              <a:spcAft>
                <a:spcPts val="0"/>
              </a:spcAft>
            </a:pPr>
            <a:r>
              <a:rPr sz="650" b="1">
                <a:solidFill>
                  <a:srgbClr val="17559A"/>
                </a:solidFill>
                <a:latin typeface="Calibri"/>
              </a:rPr>
              <a:t>ENVIRONMENTAL INPUT</a:t>
            </a:r>
          </a:p>
          <a:p>
            <a:pPr algn="ctr">
              <a:spcAft>
                <a:spcPts val="0"/>
              </a:spcAft>
            </a:pPr>
            <a:r>
              <a:rPr sz="600" b="0">
                <a:solidFill>
                  <a:srgbClr val="2A2A3A"/>
                </a:solidFill>
                <a:latin typeface="Calibri"/>
              </a:rPr>
              <a:t>FORECAST / MODEL DATA</a:t>
            </a:r>
          </a:p>
          <a:p>
            <a:pPr algn="ctr">
              <a:spcAft>
                <a:spcPts val="0"/>
              </a:spcAft>
            </a:pPr>
            <a:r>
              <a:rPr sz="580" b="0">
                <a:solidFill>
                  <a:srgbClr val="2A2A3A"/>
                </a:solidFill>
                <a:latin typeface="Calibri"/>
              </a:rPr>
              <a:t>Weather · Waves · Current</a:t>
            </a:r>
          </a:p>
        </p:txBody>
      </p:sp>
      <p:sp>
        <p:nvSpPr>
          <p:cNvPr id="29" name="Rectangle 28"/>
          <p:cNvSpPr/>
          <p:nvPr/>
        </p:nvSpPr>
        <p:spPr>
          <a:xfrm>
            <a:off x="5104799" y="13057199"/>
            <a:ext cx="4928399" cy="720000"/>
          </a:xfrm>
          <a:prstGeom prst="rect">
            <a:avLst/>
          </a:prstGeom>
          <a:solidFill>
            <a:srgbClr val="E6F5ED"/>
          </a:solidFill>
          <a:ln w="6350">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33599" y="13100399"/>
            <a:ext cx="4870799" cy="630000"/>
          </a:xfrm>
          <a:prstGeom prst="rect">
            <a:avLst/>
          </a:prstGeom>
          <a:noFill/>
        </p:spPr>
        <p:txBody>
          <a:bodyPr wrap="square">
            <a:spAutoFit/>
          </a:bodyPr>
          <a:lstStyle/>
          <a:p>
            <a:pPr algn="ctr">
              <a:spcAft>
                <a:spcPts val="0"/>
              </a:spcAft>
            </a:pPr>
            <a:r>
              <a:rPr sz="650" b="1">
                <a:solidFill>
                  <a:srgbClr val="126B3A"/>
                </a:solidFill>
                <a:latin typeface="Calibri"/>
              </a:rPr>
              <a:t>SIMULATOR OUTPUT</a:t>
            </a:r>
          </a:p>
          <a:p>
            <a:pPr algn="ctr">
              <a:spcAft>
                <a:spcPts val="0"/>
              </a:spcAft>
            </a:pPr>
            <a:r>
              <a:rPr sz="600" b="0">
                <a:solidFill>
                  <a:srgbClr val="2A2A3A"/>
                </a:solidFill>
                <a:latin typeface="Calibri"/>
              </a:rPr>
              <a:t>SIMULATED / DERIVED</a:t>
            </a:r>
          </a:p>
          <a:p>
            <a:pPr algn="ctr">
              <a:spcAft>
                <a:spcPts val="0"/>
              </a:spcAft>
            </a:pPr>
            <a:r>
              <a:rPr sz="580" b="0">
                <a:solidFill>
                  <a:srgbClr val="2A2A3A"/>
                </a:solidFill>
                <a:latin typeface="Calibri"/>
              </a:rPr>
              <a:t>Position · SOG · Fuel · SOC</a:t>
            </a:r>
          </a:p>
        </p:txBody>
      </p:sp>
      <p:sp>
        <p:nvSpPr>
          <p:cNvPr id="31" name="Rectangle 30"/>
          <p:cNvSpPr/>
          <p:nvPr/>
        </p:nvSpPr>
        <p:spPr>
          <a:xfrm>
            <a:off x="79200" y="13903200"/>
            <a:ext cx="10007999" cy="2448000"/>
          </a:xfrm>
          <a:prstGeom prst="rect">
            <a:avLst/>
          </a:prstGeom>
          <a:solidFill>
            <a:srgbClr val="F5F7FA"/>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200" y="13903200"/>
            <a:ext cx="10007999" cy="316800"/>
          </a:xfrm>
          <a:prstGeom prst="rect">
            <a:avLst/>
          </a:prstGeom>
          <a:solidFill>
            <a:srgbClr val="17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2399" y="13924800"/>
            <a:ext cx="9921600" cy="280800"/>
          </a:xfrm>
          <a:prstGeom prst="rect">
            <a:avLst/>
          </a:prstGeom>
          <a:noFill/>
        </p:spPr>
        <p:txBody>
          <a:bodyPr wrap="square">
            <a:spAutoFit/>
          </a:bodyPr>
          <a:lstStyle/>
          <a:p>
            <a:pPr algn="ctr"/>
            <a:r>
              <a:rPr sz="880" b="1" i="0">
                <a:solidFill>
                  <a:srgbClr val="FFFFFF"/>
                </a:solidFill>
                <a:latin typeface="Calibri"/>
              </a:rPr>
              <a:t>MARITIME PHYSICS MODEL</a:t>
            </a:r>
          </a:p>
        </p:txBody>
      </p:sp>
      <p:sp>
        <p:nvSpPr>
          <p:cNvPr id="34" name="TextBox 33"/>
          <p:cNvSpPr txBox="1"/>
          <p:nvPr/>
        </p:nvSpPr>
        <p:spPr>
          <a:xfrm>
            <a:off x="133200" y="14245200"/>
            <a:ext cx="9899999" cy="2088000"/>
          </a:xfrm>
          <a:prstGeom prst="rect">
            <a:avLst/>
          </a:prstGeom>
          <a:noFill/>
        </p:spPr>
        <p:txBody>
          <a:bodyPr wrap="square">
            <a:spAutoFit/>
          </a:bodyPr>
          <a:lstStyle/>
          <a:p>
            <a:pPr algn="l"/>
            <a:r>
              <a:rPr sz="640" b="0" i="0">
                <a:solidFill>
                  <a:srgbClr val="2A2A3A"/>
                </a:solidFill>
                <a:latin typeface="Calibri"/>
              </a:rPr>
              <a:t>Wind + Waves + Current
        ↓   Environmental Forces Applied
Hydrodynamic Resistance Calculated
        ↓
Required Propulsion Power Derived
        ↓
Ship Speed / SOG Determined
        ↓
Fuel Rate &amp; Energy Consumption
The simulator applies physics to calculate vessel
behavior — not a simple icon-moving simulator.
Each step: Resistance → Power → Fuel → SOC.</a:t>
            </a:r>
          </a:p>
        </p:txBody>
      </p:sp>
      <p:sp>
        <p:nvSpPr>
          <p:cNvPr id="35" name="Rectangle 34"/>
          <p:cNvSpPr/>
          <p:nvPr/>
        </p:nvSpPr>
        <p:spPr>
          <a:xfrm>
            <a:off x="79200" y="16423200"/>
            <a:ext cx="10007999" cy="4888799"/>
          </a:xfrm>
          <a:prstGeom prst="rect">
            <a:avLst/>
          </a:prstGeom>
          <a:solidFill>
            <a:srgbClr val="F5F7FA"/>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200" y="16423200"/>
            <a:ext cx="10007999" cy="316800"/>
          </a:xfrm>
          <a:prstGeom prst="rect">
            <a:avLst/>
          </a:prstGeom>
          <a:solidFill>
            <a:srgbClr val="17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2399" y="16444800"/>
            <a:ext cx="9921600" cy="280800"/>
          </a:xfrm>
          <a:prstGeom prst="rect">
            <a:avLst/>
          </a:prstGeom>
          <a:noFill/>
        </p:spPr>
        <p:txBody>
          <a:bodyPr wrap="square">
            <a:spAutoFit/>
          </a:bodyPr>
          <a:lstStyle/>
          <a:p>
            <a:pPr algn="ctr"/>
            <a:r>
              <a:rPr sz="880" b="1" i="0">
                <a:solidFill>
                  <a:srgbClr val="FFFFFF"/>
                </a:solidFill>
                <a:latin typeface="Calibri"/>
              </a:rPr>
              <a:t>FUEL · BATTERY · SOLAR</a:t>
            </a:r>
          </a:p>
        </p:txBody>
      </p:sp>
      <p:sp>
        <p:nvSpPr>
          <p:cNvPr id="38" name="TextBox 37"/>
          <p:cNvSpPr txBox="1"/>
          <p:nvPr/>
        </p:nvSpPr>
        <p:spPr>
          <a:xfrm>
            <a:off x="133200" y="16765200"/>
            <a:ext cx="9899999" cy="4528799"/>
          </a:xfrm>
          <a:prstGeom prst="rect">
            <a:avLst/>
          </a:prstGeom>
          <a:noFill/>
        </p:spPr>
        <p:txBody>
          <a:bodyPr wrap="square">
            <a:spAutoFit/>
          </a:bodyPr>
          <a:lstStyle/>
          <a:p>
            <a:pPr algn="l"/>
            <a:r>
              <a:rPr sz="630" b="0" i="0">
                <a:solidFill>
                  <a:srgbClr val="2A2A3A"/>
                </a:solidFill>
                <a:latin typeface="Calibri"/>
              </a:rPr>
              <a:t>FUEL  (Physics / Model-Derived):
  Shaft/propulsion power → fuel rate
  Fuel consumed &amp; remaining tracked
  Speed-dependent &amp; resistance-adjusted
  XGBoost fuel model (R² = 0.9513)
BATTERY  (Simulated / Model-Derived):
  SOC — 2-layer LSTM  (R² = 0.9089 on B0007)
  SOH — HistGradientBoosting  (Test R² = 0.6308)
  Usable energy = Capacity × SOH
  Pack topology: 96S×nP per vessel profile
SOLAR  (Climatological / Scenario Estimate):
  NASA POWER monthly GHI data
  Solar area × panel efficiency × GHI
  Auxiliary hotel-load coverage modeled
  Labeled as scenario estimate, not live data</a:t>
            </a:r>
          </a:p>
        </p:txBody>
      </p:sp>
      <p:sp>
        <p:nvSpPr>
          <p:cNvPr id="39" name="Rectangle 38"/>
          <p:cNvSpPr/>
          <p:nvPr/>
        </p:nvSpPr>
        <p:spPr>
          <a:xfrm>
            <a:off x="10133999" y="2671200"/>
            <a:ext cx="10007999" cy="12780000"/>
          </a:xfrm>
          <a:prstGeom prst="rect">
            <a:avLst/>
          </a:prstGeom>
          <a:solidFill>
            <a:srgbClr val="F5F7FA"/>
          </a:solidFill>
          <a:ln w="508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133999" y="2671200"/>
            <a:ext cx="10007999" cy="316800"/>
          </a:xfrm>
          <a:prstGeom prst="rect">
            <a:avLst/>
          </a:prstGeom>
          <a:solidFill>
            <a:srgbClr val="0D2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33999" y="2692800"/>
            <a:ext cx="10007999" cy="280800"/>
          </a:xfrm>
          <a:prstGeom prst="rect">
            <a:avLst/>
          </a:prstGeom>
          <a:noFill/>
        </p:spPr>
        <p:txBody>
          <a:bodyPr wrap="square">
            <a:spAutoFit/>
          </a:bodyPr>
          <a:lstStyle/>
          <a:p>
            <a:pPr algn="ctr"/>
            <a:r>
              <a:rPr sz="950" b="1" i="0">
                <a:solidFill>
                  <a:srgbClr val="FFFFFF"/>
                </a:solidFill>
                <a:latin typeface="Calibri"/>
              </a:rPr>
              <a:t>COMPLETE SYSTEM ARCHITECTURE</a:t>
            </a:r>
          </a:p>
        </p:txBody>
      </p:sp>
      <p:sp>
        <p:nvSpPr>
          <p:cNvPr id="42" name="Rectangle 41"/>
          <p:cNvSpPr/>
          <p:nvPr/>
        </p:nvSpPr>
        <p:spPr>
          <a:xfrm>
            <a:off x="10295999" y="3031200"/>
            <a:ext cx="9684000" cy="619200"/>
          </a:xfrm>
          <a:prstGeom prst="rect">
            <a:avLst/>
          </a:prstGeom>
          <a:solidFill>
            <a:srgbClr val="E8F3FD"/>
          </a:solidFill>
          <a:ln w="9525">
            <a:solidFill>
              <a:srgbClr val="17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31999" y="3049200"/>
            <a:ext cx="9612000" cy="172800"/>
          </a:xfrm>
          <a:prstGeom prst="rect">
            <a:avLst/>
          </a:prstGeom>
          <a:noFill/>
        </p:spPr>
        <p:txBody>
          <a:bodyPr wrap="square">
            <a:spAutoFit/>
          </a:bodyPr>
          <a:lstStyle/>
          <a:p>
            <a:pPr algn="ctr"/>
            <a:r>
              <a:rPr sz="700" b="1" i="0">
                <a:solidFill>
                  <a:srgbClr val="0D2C5C"/>
                </a:solidFill>
                <a:latin typeface="Calibri"/>
              </a:rPr>
              <a:t>MARITIME &amp; ENVIRONMENTAL DATA</a:t>
            </a:r>
          </a:p>
        </p:txBody>
      </p:sp>
      <p:sp>
        <p:nvSpPr>
          <p:cNvPr id="44" name="TextBox 43"/>
          <p:cNvSpPr txBox="1"/>
          <p:nvPr/>
        </p:nvSpPr>
        <p:spPr>
          <a:xfrm>
            <a:off x="10349999" y="3218400"/>
            <a:ext cx="9576000" cy="403200"/>
          </a:xfrm>
          <a:prstGeom prst="rect">
            <a:avLst/>
          </a:prstGeom>
          <a:noFill/>
        </p:spPr>
        <p:txBody>
          <a:bodyPr wrap="square">
            <a:spAutoFit/>
          </a:bodyPr>
          <a:lstStyle/>
          <a:p>
            <a:pPr algn="l"/>
            <a:r>
              <a:rPr sz="590" b="0" i="0">
                <a:solidFill>
                  <a:srgbClr val="2A2A3A"/>
                </a:solidFill>
                <a:latin typeface="Calibri"/>
              </a:rPr>
              <a:t>• Weather / Wind / Waves / Ocean Current
• Temp · Humidity · Pressure · Solar/GHI
• Route Data · Vessel Parameters</a:t>
            </a:r>
          </a:p>
        </p:txBody>
      </p:sp>
      <p:sp>
        <p:nvSpPr>
          <p:cNvPr id="45" name="TextBox 44"/>
          <p:cNvSpPr txBox="1"/>
          <p:nvPr/>
        </p:nvSpPr>
        <p:spPr>
          <a:xfrm>
            <a:off x="14957999" y="3654000"/>
            <a:ext cx="360000" cy="72000"/>
          </a:xfrm>
          <a:prstGeom prst="rect">
            <a:avLst/>
          </a:prstGeom>
          <a:noFill/>
        </p:spPr>
        <p:txBody>
          <a:bodyPr wrap="square">
            <a:spAutoFit/>
          </a:bodyPr>
          <a:lstStyle/>
          <a:p>
            <a:pPr algn="ctr"/>
            <a:r>
              <a:rPr sz="800" b="1" i="0">
                <a:solidFill>
                  <a:srgbClr val="17559A"/>
                </a:solidFill>
                <a:latin typeface="Calibri"/>
              </a:rPr>
              <a:t>▼</a:t>
            </a:r>
          </a:p>
        </p:txBody>
      </p:sp>
      <p:sp>
        <p:nvSpPr>
          <p:cNvPr id="46" name="Rectangle 45"/>
          <p:cNvSpPr/>
          <p:nvPr/>
        </p:nvSpPr>
        <p:spPr>
          <a:xfrm>
            <a:off x="10295999" y="3726000"/>
            <a:ext cx="9684000" cy="619200"/>
          </a:xfrm>
          <a:prstGeom prst="rect">
            <a:avLst/>
          </a:prstGeom>
          <a:solidFill>
            <a:srgbClr val="EEF5FF"/>
          </a:solidFill>
          <a:ln w="9525">
            <a:solidFill>
              <a:srgbClr val="17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1999" y="3744000"/>
            <a:ext cx="9612000" cy="172800"/>
          </a:xfrm>
          <a:prstGeom prst="rect">
            <a:avLst/>
          </a:prstGeom>
          <a:noFill/>
        </p:spPr>
        <p:txBody>
          <a:bodyPr wrap="square">
            <a:spAutoFit/>
          </a:bodyPr>
          <a:lstStyle/>
          <a:p>
            <a:pPr algn="ctr"/>
            <a:r>
              <a:rPr sz="700" b="1" i="0">
                <a:solidFill>
                  <a:srgbClr val="0D2C5C"/>
                </a:solidFill>
                <a:latin typeface="Calibri"/>
              </a:rPr>
              <a:t>DATA ENGINEERING</a:t>
            </a:r>
          </a:p>
        </p:txBody>
      </p:sp>
      <p:sp>
        <p:nvSpPr>
          <p:cNvPr id="48" name="TextBox 47"/>
          <p:cNvSpPr txBox="1"/>
          <p:nvPr/>
        </p:nvSpPr>
        <p:spPr>
          <a:xfrm>
            <a:off x="10349999" y="3913200"/>
            <a:ext cx="9576000" cy="403200"/>
          </a:xfrm>
          <a:prstGeom prst="rect">
            <a:avLst/>
          </a:prstGeom>
          <a:noFill/>
        </p:spPr>
        <p:txBody>
          <a:bodyPr wrap="square">
            <a:spAutoFit/>
          </a:bodyPr>
          <a:lstStyle/>
          <a:p>
            <a:pPr algn="l"/>
            <a:r>
              <a:rPr sz="590" b="0" i="0">
                <a:solidFill>
                  <a:srgbClr val="2A2A3A"/>
                </a:solidFill>
                <a:latin typeface="Calibri"/>
              </a:rPr>
              <a:t>• Ingestion · QC · Validation
• Spatial Processing
• Temporal / Route Alignment</a:t>
            </a:r>
          </a:p>
        </p:txBody>
      </p:sp>
      <p:sp>
        <p:nvSpPr>
          <p:cNvPr id="49" name="TextBox 48"/>
          <p:cNvSpPr txBox="1"/>
          <p:nvPr/>
        </p:nvSpPr>
        <p:spPr>
          <a:xfrm>
            <a:off x="14957999" y="4348800"/>
            <a:ext cx="360000" cy="72000"/>
          </a:xfrm>
          <a:prstGeom prst="rect">
            <a:avLst/>
          </a:prstGeom>
          <a:noFill/>
        </p:spPr>
        <p:txBody>
          <a:bodyPr wrap="square">
            <a:spAutoFit/>
          </a:bodyPr>
          <a:lstStyle/>
          <a:p>
            <a:pPr algn="ctr"/>
            <a:r>
              <a:rPr sz="800" b="1" i="0">
                <a:solidFill>
                  <a:srgbClr val="17559A"/>
                </a:solidFill>
                <a:latin typeface="Calibri"/>
              </a:rPr>
              <a:t>▼</a:t>
            </a:r>
          </a:p>
        </p:txBody>
      </p:sp>
      <p:sp>
        <p:nvSpPr>
          <p:cNvPr id="50" name="Rectangle 49"/>
          <p:cNvSpPr/>
          <p:nvPr/>
        </p:nvSpPr>
        <p:spPr>
          <a:xfrm>
            <a:off x="10295999" y="4420800"/>
            <a:ext cx="9684000" cy="619200"/>
          </a:xfrm>
          <a:prstGeom prst="rect">
            <a:avLst/>
          </a:prstGeom>
          <a:solidFill>
            <a:srgbClr val="E8F3FD"/>
          </a:solidFill>
          <a:ln w="9525">
            <a:solidFill>
              <a:srgbClr val="17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331999" y="4438800"/>
            <a:ext cx="9612000" cy="172800"/>
          </a:xfrm>
          <a:prstGeom prst="rect">
            <a:avLst/>
          </a:prstGeom>
          <a:noFill/>
        </p:spPr>
        <p:txBody>
          <a:bodyPr wrap="square">
            <a:spAutoFit/>
          </a:bodyPr>
          <a:lstStyle/>
          <a:p>
            <a:pPr algn="ctr"/>
            <a:r>
              <a:rPr sz="700" b="1" i="0">
                <a:solidFill>
                  <a:srgbClr val="0D2C5C"/>
                </a:solidFill>
                <a:latin typeface="Calibri"/>
              </a:rPr>
              <a:t>ENVIRONMENTAL INTELLIGENCE</a:t>
            </a:r>
          </a:p>
        </p:txBody>
      </p:sp>
      <p:sp>
        <p:nvSpPr>
          <p:cNvPr id="52" name="TextBox 51"/>
          <p:cNvSpPr txBox="1"/>
          <p:nvPr/>
        </p:nvSpPr>
        <p:spPr>
          <a:xfrm>
            <a:off x="10349999" y="4608000"/>
            <a:ext cx="9576000" cy="403200"/>
          </a:xfrm>
          <a:prstGeom prst="rect">
            <a:avLst/>
          </a:prstGeom>
          <a:noFill/>
        </p:spPr>
        <p:txBody>
          <a:bodyPr wrap="square">
            <a:spAutoFit/>
          </a:bodyPr>
          <a:lstStyle/>
          <a:p>
            <a:pPr algn="l"/>
            <a:r>
              <a:rPr sz="590" b="0" i="0">
                <a:solidFill>
                  <a:srgbClr val="2A2A3A"/>
                </a:solidFill>
                <a:latin typeface="Calibri"/>
              </a:rPr>
              <a:t>• Weather Forecast · Route Lookahead
• Adverse Weather Detection
• Open-Meteo API + Mock Provider</a:t>
            </a:r>
          </a:p>
        </p:txBody>
      </p:sp>
      <p:sp>
        <p:nvSpPr>
          <p:cNvPr id="53" name="TextBox 52"/>
          <p:cNvSpPr txBox="1"/>
          <p:nvPr/>
        </p:nvSpPr>
        <p:spPr>
          <a:xfrm>
            <a:off x="14957999" y="5043600"/>
            <a:ext cx="360000" cy="72000"/>
          </a:xfrm>
          <a:prstGeom prst="rect">
            <a:avLst/>
          </a:prstGeom>
          <a:noFill/>
        </p:spPr>
        <p:txBody>
          <a:bodyPr wrap="square">
            <a:spAutoFit/>
          </a:bodyPr>
          <a:lstStyle/>
          <a:p>
            <a:pPr algn="ctr"/>
            <a:r>
              <a:rPr sz="800" b="1" i="0">
                <a:solidFill>
                  <a:srgbClr val="17559A"/>
                </a:solidFill>
                <a:latin typeface="Calibri"/>
              </a:rPr>
              <a:t>▼</a:t>
            </a:r>
          </a:p>
        </p:txBody>
      </p:sp>
      <p:sp>
        <p:nvSpPr>
          <p:cNvPr id="54" name="Rectangle 53"/>
          <p:cNvSpPr/>
          <p:nvPr/>
        </p:nvSpPr>
        <p:spPr>
          <a:xfrm>
            <a:off x="10295999" y="5115600"/>
            <a:ext cx="9684000" cy="619200"/>
          </a:xfrm>
          <a:prstGeom prst="rect">
            <a:avLst/>
          </a:prstGeom>
          <a:solidFill>
            <a:srgbClr val="EEF5FF"/>
          </a:solidFill>
          <a:ln w="9525">
            <a:solidFill>
              <a:srgbClr val="17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1999" y="5133600"/>
            <a:ext cx="9612000" cy="172800"/>
          </a:xfrm>
          <a:prstGeom prst="rect">
            <a:avLst/>
          </a:prstGeom>
          <a:noFill/>
        </p:spPr>
        <p:txBody>
          <a:bodyPr wrap="square">
            <a:spAutoFit/>
          </a:bodyPr>
          <a:lstStyle/>
          <a:p>
            <a:pPr algn="ctr"/>
            <a:r>
              <a:rPr sz="700" b="1" i="0">
                <a:solidFill>
                  <a:srgbClr val="0D2C5C"/>
                </a:solidFill>
                <a:latin typeface="Calibri"/>
              </a:rPr>
              <a:t>MARITIME PHYSICS</a:t>
            </a:r>
          </a:p>
        </p:txBody>
      </p:sp>
      <p:sp>
        <p:nvSpPr>
          <p:cNvPr id="56" name="TextBox 55"/>
          <p:cNvSpPr txBox="1"/>
          <p:nvPr/>
        </p:nvSpPr>
        <p:spPr>
          <a:xfrm>
            <a:off x="10349999" y="5302800"/>
            <a:ext cx="9576000" cy="403200"/>
          </a:xfrm>
          <a:prstGeom prst="rect">
            <a:avLst/>
          </a:prstGeom>
          <a:noFill/>
        </p:spPr>
        <p:txBody>
          <a:bodyPr wrap="square">
            <a:spAutoFit/>
          </a:bodyPr>
          <a:lstStyle/>
          <a:p>
            <a:pPr algn="l"/>
            <a:r>
              <a:rPr sz="590" b="0" i="0">
                <a:solidFill>
                  <a:srgbClr val="2A2A3A"/>
                </a:solidFill>
                <a:latin typeface="Calibri"/>
              </a:rPr>
              <a:t>• Vessel Dynamics · Resistance
• Environmental Forces
• Propulsion Power · Speed</a:t>
            </a:r>
          </a:p>
        </p:txBody>
      </p:sp>
      <p:sp>
        <p:nvSpPr>
          <p:cNvPr id="57" name="TextBox 56"/>
          <p:cNvSpPr txBox="1"/>
          <p:nvPr/>
        </p:nvSpPr>
        <p:spPr>
          <a:xfrm>
            <a:off x="14957999" y="5738400"/>
            <a:ext cx="360000" cy="72000"/>
          </a:xfrm>
          <a:prstGeom prst="rect">
            <a:avLst/>
          </a:prstGeom>
          <a:noFill/>
        </p:spPr>
        <p:txBody>
          <a:bodyPr wrap="square">
            <a:spAutoFit/>
          </a:bodyPr>
          <a:lstStyle/>
          <a:p>
            <a:pPr algn="ctr"/>
            <a:r>
              <a:rPr sz="800" b="1" i="0">
                <a:solidFill>
                  <a:srgbClr val="17559A"/>
                </a:solidFill>
                <a:latin typeface="Calibri"/>
              </a:rPr>
              <a:t>▼</a:t>
            </a:r>
          </a:p>
        </p:txBody>
      </p:sp>
      <p:sp>
        <p:nvSpPr>
          <p:cNvPr id="58" name="Rectangle 57"/>
          <p:cNvSpPr/>
          <p:nvPr/>
        </p:nvSpPr>
        <p:spPr>
          <a:xfrm>
            <a:off x="10295999" y="5810400"/>
            <a:ext cx="9684000" cy="619200"/>
          </a:xfrm>
          <a:prstGeom prst="rect">
            <a:avLst/>
          </a:prstGeom>
          <a:solidFill>
            <a:srgbClr val="E8F3FD"/>
          </a:solidFill>
          <a:ln w="9525">
            <a:solidFill>
              <a:srgbClr val="17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331999" y="5828400"/>
            <a:ext cx="9612000" cy="172800"/>
          </a:xfrm>
          <a:prstGeom prst="rect">
            <a:avLst/>
          </a:prstGeom>
          <a:noFill/>
        </p:spPr>
        <p:txBody>
          <a:bodyPr wrap="square">
            <a:spAutoFit/>
          </a:bodyPr>
          <a:lstStyle/>
          <a:p>
            <a:pPr algn="ctr"/>
            <a:r>
              <a:rPr sz="700" b="1" i="0">
                <a:solidFill>
                  <a:srgbClr val="0D2C5C"/>
                </a:solidFill>
                <a:latin typeface="Calibri"/>
              </a:rPr>
              <a:t>ENERGY &amp; FUEL MODEL</a:t>
            </a:r>
          </a:p>
        </p:txBody>
      </p:sp>
      <p:sp>
        <p:nvSpPr>
          <p:cNvPr id="60" name="TextBox 59"/>
          <p:cNvSpPr txBox="1"/>
          <p:nvPr/>
        </p:nvSpPr>
        <p:spPr>
          <a:xfrm>
            <a:off x="10349999" y="5997600"/>
            <a:ext cx="9576000" cy="403200"/>
          </a:xfrm>
          <a:prstGeom prst="rect">
            <a:avLst/>
          </a:prstGeom>
          <a:noFill/>
        </p:spPr>
        <p:txBody>
          <a:bodyPr wrap="square">
            <a:spAutoFit/>
          </a:bodyPr>
          <a:lstStyle/>
          <a:p>
            <a:pPr algn="l"/>
            <a:r>
              <a:rPr sz="590" b="0" i="0">
                <a:solidFill>
                  <a:srgbClr val="2A2A3A"/>
                </a:solidFill>
                <a:latin typeface="Calibri"/>
              </a:rPr>
              <a:t>• Fuel Consumption — XGBoost (Model B)
• Battery SOC — LSTM (Model C-SOC)
• Battery SOH — HGB · Solar / GHI</a:t>
            </a:r>
          </a:p>
        </p:txBody>
      </p:sp>
      <p:sp>
        <p:nvSpPr>
          <p:cNvPr id="61" name="TextBox 60"/>
          <p:cNvSpPr txBox="1"/>
          <p:nvPr/>
        </p:nvSpPr>
        <p:spPr>
          <a:xfrm>
            <a:off x="14957999" y="6433200"/>
            <a:ext cx="360000" cy="72000"/>
          </a:xfrm>
          <a:prstGeom prst="rect">
            <a:avLst/>
          </a:prstGeom>
          <a:noFill/>
        </p:spPr>
        <p:txBody>
          <a:bodyPr wrap="square">
            <a:spAutoFit/>
          </a:bodyPr>
          <a:lstStyle/>
          <a:p>
            <a:pPr algn="ctr"/>
            <a:r>
              <a:rPr sz="800" b="1" i="0">
                <a:solidFill>
                  <a:srgbClr val="17559A"/>
                </a:solidFill>
                <a:latin typeface="Calibri"/>
              </a:rPr>
              <a:t>▼</a:t>
            </a:r>
          </a:p>
        </p:txBody>
      </p:sp>
      <p:sp>
        <p:nvSpPr>
          <p:cNvPr id="62" name="Rectangle 61"/>
          <p:cNvSpPr/>
          <p:nvPr/>
        </p:nvSpPr>
        <p:spPr>
          <a:xfrm>
            <a:off x="10295999" y="6505200"/>
            <a:ext cx="9684000" cy="619200"/>
          </a:xfrm>
          <a:prstGeom prst="rect">
            <a:avLst/>
          </a:prstGeom>
          <a:solidFill>
            <a:srgbClr val="D0E8FF"/>
          </a:solidFill>
          <a:ln w="9525">
            <a:solidFill>
              <a:srgbClr val="17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331999" y="6523200"/>
            <a:ext cx="9612000" cy="172800"/>
          </a:xfrm>
          <a:prstGeom prst="rect">
            <a:avLst/>
          </a:prstGeom>
          <a:noFill/>
        </p:spPr>
        <p:txBody>
          <a:bodyPr wrap="square">
            <a:spAutoFit/>
          </a:bodyPr>
          <a:lstStyle/>
          <a:p>
            <a:pPr algn="ctr"/>
            <a:r>
              <a:rPr sz="700" b="1" i="0">
                <a:solidFill>
                  <a:srgbClr val="17559A"/>
                </a:solidFill>
                <a:latin typeface="Calibri"/>
              </a:rPr>
              <a:t>VOYAGE SIMULATOR</a:t>
            </a:r>
          </a:p>
        </p:txBody>
      </p:sp>
      <p:sp>
        <p:nvSpPr>
          <p:cNvPr id="64" name="TextBox 63"/>
          <p:cNvSpPr txBox="1"/>
          <p:nvPr/>
        </p:nvSpPr>
        <p:spPr>
          <a:xfrm>
            <a:off x="10349999" y="6692400"/>
            <a:ext cx="9576000" cy="403200"/>
          </a:xfrm>
          <a:prstGeom prst="rect">
            <a:avLst/>
          </a:prstGeom>
          <a:noFill/>
        </p:spPr>
        <p:txBody>
          <a:bodyPr wrap="square">
            <a:spAutoFit/>
          </a:bodyPr>
          <a:lstStyle/>
          <a:p>
            <a:pPr algn="l"/>
            <a:r>
              <a:rPr sz="590" b="0" i="0">
                <a:solidFill>
                  <a:srgbClr val="2A2A3A"/>
                </a:solidFill>
                <a:latin typeface="Calibri"/>
              </a:rPr>
              <a:t>• Position · SOG / STW · Heading
• Distance · Progress · ETA
• Native Virtual Maritime Simulator</a:t>
            </a:r>
          </a:p>
        </p:txBody>
      </p:sp>
      <p:sp>
        <p:nvSpPr>
          <p:cNvPr id="65" name="TextBox 64"/>
          <p:cNvSpPr txBox="1"/>
          <p:nvPr/>
        </p:nvSpPr>
        <p:spPr>
          <a:xfrm>
            <a:off x="14957999" y="7128000"/>
            <a:ext cx="360000" cy="72000"/>
          </a:xfrm>
          <a:prstGeom prst="rect">
            <a:avLst/>
          </a:prstGeom>
          <a:noFill/>
        </p:spPr>
        <p:txBody>
          <a:bodyPr wrap="square">
            <a:spAutoFit/>
          </a:bodyPr>
          <a:lstStyle/>
          <a:p>
            <a:pPr algn="ctr"/>
            <a:r>
              <a:rPr sz="800" b="1" i="0">
                <a:solidFill>
                  <a:srgbClr val="17559A"/>
                </a:solidFill>
                <a:latin typeface="Calibri"/>
              </a:rPr>
              <a:t>▼</a:t>
            </a:r>
          </a:p>
        </p:txBody>
      </p:sp>
      <p:sp>
        <p:nvSpPr>
          <p:cNvPr id="66" name="Rectangle 65"/>
          <p:cNvSpPr/>
          <p:nvPr/>
        </p:nvSpPr>
        <p:spPr>
          <a:xfrm>
            <a:off x="10295999" y="7200000"/>
            <a:ext cx="4815000" cy="1260000"/>
          </a:xfrm>
          <a:prstGeom prst="rect">
            <a:avLst/>
          </a:prstGeom>
          <a:solidFill>
            <a:srgbClr val="E6F5ED"/>
          </a:solidFill>
          <a:ln w="9525">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313999" y="7228800"/>
            <a:ext cx="4779000" cy="187200"/>
          </a:xfrm>
          <a:prstGeom prst="rect">
            <a:avLst/>
          </a:prstGeom>
          <a:noFill/>
        </p:spPr>
        <p:txBody>
          <a:bodyPr wrap="square">
            <a:spAutoFit/>
          </a:bodyPr>
          <a:lstStyle/>
          <a:p>
            <a:pPr algn="ctr"/>
            <a:r>
              <a:rPr sz="650" b="1" i="0">
                <a:solidFill>
                  <a:srgbClr val="126B3A"/>
                </a:solidFill>
                <a:latin typeface="Calibri"/>
              </a:rPr>
              <a:t>ENGINEERING
WORKBENCH</a:t>
            </a:r>
          </a:p>
        </p:txBody>
      </p:sp>
      <p:sp>
        <p:nvSpPr>
          <p:cNvPr id="68" name="TextBox 67"/>
          <p:cNvSpPr txBox="1"/>
          <p:nvPr/>
        </p:nvSpPr>
        <p:spPr>
          <a:xfrm>
            <a:off x="10331999" y="7434000"/>
            <a:ext cx="4743000" cy="1007999"/>
          </a:xfrm>
          <a:prstGeom prst="rect">
            <a:avLst/>
          </a:prstGeom>
          <a:noFill/>
        </p:spPr>
        <p:txBody>
          <a:bodyPr wrap="square">
            <a:spAutoFit/>
          </a:bodyPr>
          <a:lstStyle/>
          <a:p>
            <a:pPr algn="l"/>
            <a:r>
              <a:rPr sz="570" b="0" i="0">
                <a:solidFill>
                  <a:srgbClr val="2A2A3A"/>
                </a:solidFill>
                <a:latin typeface="Calibri"/>
              </a:rPr>
              <a:t>• Voyage Simulation
• Sizing Evaluation
• Sizing Optimization
• Speed Co-Optimization
• Sensitivity Analysis
• Break-Even Analysis
• 2D Grid Analysis
• Fleet Portfolio
• CII Trajectory
• Scenario Dossier</a:t>
            </a:r>
          </a:p>
        </p:txBody>
      </p:sp>
      <p:sp>
        <p:nvSpPr>
          <p:cNvPr id="69" name="Rectangle 68"/>
          <p:cNvSpPr/>
          <p:nvPr/>
        </p:nvSpPr>
        <p:spPr>
          <a:xfrm>
            <a:off x="15164999" y="7200000"/>
            <a:ext cx="4815000" cy="1260000"/>
          </a:xfrm>
          <a:prstGeom prst="rect">
            <a:avLst/>
          </a:prstGeom>
          <a:solidFill>
            <a:srgbClr val="FFF4E0"/>
          </a:solidFill>
          <a:ln w="9525">
            <a:solidFill>
              <a:srgbClr val="C8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5182999" y="7228800"/>
            <a:ext cx="4779000" cy="187200"/>
          </a:xfrm>
          <a:prstGeom prst="rect">
            <a:avLst/>
          </a:prstGeom>
          <a:noFill/>
        </p:spPr>
        <p:txBody>
          <a:bodyPr wrap="square">
            <a:spAutoFit/>
          </a:bodyPr>
          <a:lstStyle/>
          <a:p>
            <a:pPr algn="ctr"/>
            <a:r>
              <a:rPr sz="650" b="1" i="0">
                <a:solidFill>
                  <a:srgbClr val="C86000"/>
                </a:solidFill>
                <a:latin typeface="Calibri"/>
              </a:rPr>
              <a:t>SIGNAL AGENT
DECISION SUPPORT</a:t>
            </a:r>
          </a:p>
        </p:txBody>
      </p:sp>
      <p:sp>
        <p:nvSpPr>
          <p:cNvPr id="71" name="TextBox 70"/>
          <p:cNvSpPr txBox="1"/>
          <p:nvPr/>
        </p:nvSpPr>
        <p:spPr>
          <a:xfrm>
            <a:off x="15200999" y="7434000"/>
            <a:ext cx="4743000" cy="1007999"/>
          </a:xfrm>
          <a:prstGeom prst="rect">
            <a:avLst/>
          </a:prstGeom>
          <a:noFill/>
        </p:spPr>
        <p:txBody>
          <a:bodyPr wrap="square">
            <a:spAutoFit/>
          </a:bodyPr>
          <a:lstStyle/>
          <a:p>
            <a:pPr algn="l"/>
            <a:r>
              <a:rPr sz="570" b="0" i="0">
                <a:solidFill>
                  <a:srgbClr val="2A2A3A"/>
                </a:solidFill>
                <a:latin typeface="Calibri"/>
              </a:rPr>
              <a:t>• Weather Alerts
• Fuel Alerts
• Battery Alerts
• CII / Regulatory
• Decision Not Ready
• Human Review
• human_review
  required = True</a:t>
            </a:r>
          </a:p>
        </p:txBody>
      </p:sp>
      <p:sp>
        <p:nvSpPr>
          <p:cNvPr id="72" name="TextBox 71"/>
          <p:cNvSpPr txBox="1"/>
          <p:nvPr/>
        </p:nvSpPr>
        <p:spPr>
          <a:xfrm>
            <a:off x="14957999" y="8514000"/>
            <a:ext cx="360000" cy="75600"/>
          </a:xfrm>
          <a:prstGeom prst="rect">
            <a:avLst/>
          </a:prstGeom>
          <a:noFill/>
        </p:spPr>
        <p:txBody>
          <a:bodyPr wrap="square">
            <a:spAutoFit/>
          </a:bodyPr>
          <a:lstStyle/>
          <a:p>
            <a:pPr algn="ctr"/>
            <a:r>
              <a:rPr sz="800" b="1" i="0">
                <a:solidFill>
                  <a:srgbClr val="0D2C5C"/>
                </a:solidFill>
                <a:latin typeface="Calibri"/>
              </a:rPr>
              <a:t>▼</a:t>
            </a:r>
          </a:p>
        </p:txBody>
      </p:sp>
      <p:sp>
        <p:nvSpPr>
          <p:cNvPr id="73" name="Rectangle 72"/>
          <p:cNvSpPr/>
          <p:nvPr/>
        </p:nvSpPr>
        <p:spPr>
          <a:xfrm>
            <a:off x="10295999" y="8607600"/>
            <a:ext cx="9684000" cy="522000"/>
          </a:xfrm>
          <a:prstGeom prst="rect">
            <a:avLst/>
          </a:prstGeom>
          <a:solidFill>
            <a:srgbClr val="D0E8FF"/>
          </a:solidFill>
          <a:ln w="12700">
            <a:solidFill>
              <a:srgbClr val="0D2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331999" y="8643600"/>
            <a:ext cx="9612000" cy="234000"/>
          </a:xfrm>
          <a:prstGeom prst="rect">
            <a:avLst/>
          </a:prstGeom>
          <a:noFill/>
        </p:spPr>
        <p:txBody>
          <a:bodyPr wrap="square">
            <a:spAutoFit/>
          </a:bodyPr>
          <a:lstStyle/>
          <a:p>
            <a:pPr algn="ctr"/>
            <a:r>
              <a:rPr sz="750" b="1" i="0">
                <a:solidFill>
                  <a:srgbClr val="0D2C5C"/>
                </a:solidFill>
                <a:latin typeface="Calibri"/>
              </a:rPr>
              <a:t>DRIVER DASHBOARD  +  ENGINEERING WORKBENCH</a:t>
            </a:r>
          </a:p>
        </p:txBody>
      </p:sp>
      <p:sp>
        <p:nvSpPr>
          <p:cNvPr id="75" name="TextBox 74"/>
          <p:cNvSpPr txBox="1"/>
          <p:nvPr/>
        </p:nvSpPr>
        <p:spPr>
          <a:xfrm>
            <a:off x="10331999" y="8877600"/>
            <a:ext cx="9612000" cy="216000"/>
          </a:xfrm>
          <a:prstGeom prst="rect">
            <a:avLst/>
          </a:prstGeom>
          <a:noFill/>
        </p:spPr>
        <p:txBody>
          <a:bodyPr wrap="square">
            <a:spAutoFit/>
          </a:bodyPr>
          <a:lstStyle/>
          <a:p>
            <a:pPr algn="ctr"/>
            <a:r>
              <a:rPr sz="700" b="1" i="0">
                <a:solidFill>
                  <a:srgbClr val="17559A"/>
                </a:solidFill>
                <a:latin typeface="Calibri"/>
              </a:rPr>
              <a:t>▼  HUMAN DECISION  ▼</a:t>
            </a:r>
          </a:p>
        </p:txBody>
      </p:sp>
      <p:sp>
        <p:nvSpPr>
          <p:cNvPr id="76" name="Rectangle 75"/>
          <p:cNvSpPr/>
          <p:nvPr/>
        </p:nvSpPr>
        <p:spPr>
          <a:xfrm>
            <a:off x="10133999" y="15541200"/>
            <a:ext cx="10007999" cy="2015999"/>
          </a:xfrm>
          <a:prstGeom prst="rect">
            <a:avLst/>
          </a:prstGeom>
          <a:solidFill>
            <a:srgbClr val="F5F7FA"/>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133999" y="15541200"/>
            <a:ext cx="10007999" cy="316800"/>
          </a:xfrm>
          <a:prstGeom prst="rect">
            <a:avLst/>
          </a:prstGeom>
          <a:solidFill>
            <a:srgbClr val="17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177199" y="15562800"/>
            <a:ext cx="9921600" cy="280800"/>
          </a:xfrm>
          <a:prstGeom prst="rect">
            <a:avLst/>
          </a:prstGeom>
          <a:noFill/>
        </p:spPr>
        <p:txBody>
          <a:bodyPr wrap="square">
            <a:spAutoFit/>
          </a:bodyPr>
          <a:lstStyle/>
          <a:p>
            <a:pPr algn="ctr"/>
            <a:r>
              <a:rPr sz="850" b="1" i="0">
                <a:solidFill>
                  <a:srgbClr val="FFFFFF"/>
                </a:solidFill>
                <a:latin typeface="Calibri"/>
              </a:rPr>
              <a:t>ML / ENGINEERING MODELS — VERIFIED METRICS</a:t>
            </a:r>
          </a:p>
        </p:txBody>
      </p:sp>
      <p:sp>
        <p:nvSpPr>
          <p:cNvPr id="79" name="TextBox 78"/>
          <p:cNvSpPr txBox="1"/>
          <p:nvPr/>
        </p:nvSpPr>
        <p:spPr>
          <a:xfrm>
            <a:off x="10187999" y="15883200"/>
            <a:ext cx="9899999" cy="1655999"/>
          </a:xfrm>
          <a:prstGeom prst="rect">
            <a:avLst/>
          </a:prstGeom>
          <a:noFill/>
        </p:spPr>
        <p:txBody>
          <a:bodyPr wrap="square">
            <a:spAutoFit/>
          </a:bodyPr>
          <a:lstStyle/>
          <a:p>
            <a:pPr algn="l"/>
            <a:r>
              <a:rPr sz="630" b="0" i="0">
                <a:solidFill>
                  <a:srgbClr val="2A2A3A"/>
                </a:solidFill>
                <a:latin typeface="Calibri"/>
              </a:rPr>
              <a:t>Model B — Fuel Consumption  (XGBoost, ship-holdout):
   R² = 0.9513   RMSE = 1092 L   MAE = 662 L
   CO₂ RMSE = 3310 kg, R² = 0.9423
Model C-SOC — Battery State of Charge  (2-layer LSTM):
   B0007 Unseen-Cell Test:  R² = 0.9089  RMSE = 0.0678
Model C-SOH — Battery State of Health  (HistGradBoost):
   Val R² = 0.9028   Test RMSE = 0.0397  (B0007)
Model A — Weather Classifier:
   Honest result: No ML model exceeded majority-class
   baseline (34.72%). Majority class selected.</a:t>
            </a:r>
          </a:p>
        </p:txBody>
      </p:sp>
      <p:pic>
        <p:nvPicPr>
          <p:cNvPr id="80" name="Picture 79" descr="battery_soc_actual_vs_predicted.png"/>
          <p:cNvPicPr>
            <a:picLocks noChangeAspect="1"/>
          </p:cNvPicPr>
          <p:nvPr/>
        </p:nvPicPr>
        <p:blipFill>
          <a:blip r:embed="rId2"/>
          <a:stretch>
            <a:fillRect/>
          </a:stretch>
        </p:blipFill>
        <p:spPr>
          <a:xfrm>
            <a:off x="10177199" y="17636400"/>
            <a:ext cx="4913999" cy="2808000"/>
          </a:xfrm>
          <a:prstGeom prst="rect">
            <a:avLst/>
          </a:prstGeom>
        </p:spPr>
      </p:pic>
      <p:pic>
        <p:nvPicPr>
          <p:cNvPr id="81" name="Picture 80" descr="fuel_actual_vs_predicted.png"/>
          <p:cNvPicPr>
            <a:picLocks noChangeAspect="1"/>
          </p:cNvPicPr>
          <p:nvPr/>
        </p:nvPicPr>
        <p:blipFill>
          <a:blip r:embed="rId3"/>
          <a:stretch>
            <a:fillRect/>
          </a:stretch>
        </p:blipFill>
        <p:spPr>
          <a:xfrm>
            <a:off x="15127199" y="17636400"/>
            <a:ext cx="4913999" cy="2808000"/>
          </a:xfrm>
          <a:prstGeom prst="rect">
            <a:avLst/>
          </a:prstGeom>
        </p:spPr>
      </p:pic>
      <p:pic>
        <p:nvPicPr>
          <p:cNvPr id="82" name="Picture 81" descr="battery_soh_degradation.png"/>
          <p:cNvPicPr>
            <a:picLocks noChangeAspect="1"/>
          </p:cNvPicPr>
          <p:nvPr/>
        </p:nvPicPr>
        <p:blipFill>
          <a:blip r:embed="rId4"/>
          <a:stretch>
            <a:fillRect/>
          </a:stretch>
        </p:blipFill>
        <p:spPr>
          <a:xfrm>
            <a:off x="10213199" y="20509200"/>
            <a:ext cx="9849599" cy="1260000"/>
          </a:xfrm>
          <a:prstGeom prst="rect">
            <a:avLst/>
          </a:prstGeom>
        </p:spPr>
      </p:pic>
      <p:sp>
        <p:nvSpPr>
          <p:cNvPr id="83" name="Rectangle 82"/>
          <p:cNvSpPr/>
          <p:nvPr/>
        </p:nvSpPr>
        <p:spPr>
          <a:xfrm>
            <a:off x="20188799" y="2671200"/>
            <a:ext cx="10007999" cy="2880000"/>
          </a:xfrm>
          <a:prstGeom prst="rect">
            <a:avLst/>
          </a:prstGeom>
          <a:solidFill>
            <a:srgbClr val="F5F7FA"/>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20188799" y="2671200"/>
            <a:ext cx="10007999" cy="316800"/>
          </a:xfrm>
          <a:prstGeom prst="rect">
            <a:avLst/>
          </a:prstGeom>
          <a:solidFill>
            <a:srgbClr val="17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0231999" y="2692800"/>
            <a:ext cx="9921600" cy="280800"/>
          </a:xfrm>
          <a:prstGeom prst="rect">
            <a:avLst/>
          </a:prstGeom>
          <a:noFill/>
        </p:spPr>
        <p:txBody>
          <a:bodyPr wrap="square">
            <a:spAutoFit/>
          </a:bodyPr>
          <a:lstStyle/>
          <a:p>
            <a:pPr algn="ctr"/>
            <a:r>
              <a:rPr sz="880" b="1" i="0">
                <a:solidFill>
                  <a:srgbClr val="FFFFFF"/>
                </a:solidFill>
                <a:latin typeface="Calibri"/>
              </a:rPr>
              <a:t>PROJECT OUTCOMES</a:t>
            </a:r>
          </a:p>
        </p:txBody>
      </p:sp>
      <p:sp>
        <p:nvSpPr>
          <p:cNvPr id="86" name="TextBox 85"/>
          <p:cNvSpPr txBox="1"/>
          <p:nvPr/>
        </p:nvSpPr>
        <p:spPr>
          <a:xfrm>
            <a:off x="20242799" y="3013200"/>
            <a:ext cx="9899999" cy="2520000"/>
          </a:xfrm>
          <a:prstGeom prst="rect">
            <a:avLst/>
          </a:prstGeom>
          <a:noFill/>
        </p:spPr>
        <p:txBody>
          <a:bodyPr wrap="square">
            <a:spAutoFit/>
          </a:bodyPr>
          <a:lstStyle/>
          <a:p>
            <a:pPr algn="l"/>
            <a:r>
              <a:rPr sz="630" b="0" i="0">
                <a:solidFill>
                  <a:srgbClr val="2A2A3A"/>
                </a:solidFill>
                <a:latin typeface="Calibri"/>
              </a:rPr>
              <a:t>PO1 — Integrated Maritime Data
  Environmental, route &amp; vessel data unified.
PO2 — Physics-Based Voyage Simulation
  Virtual vessel coupled with environmental
  conditions, dynamics &amp; energy models.
PO3 — Engineering Intelligence
  Sizing, speed, sensitivity, break-even,
  grid &amp; fleet-level analyses.
PO4 — Regulatory &amp; Emissions Analysis
  Voyage → CII trajectory via MEPC.353/354(78).
PO5 — Operational Decision Support
  Signal Agent: weather, fuel, battery, CII
  advisories — human review required.
PO6 — Verified Integrated Platform
  975 automated tests + browser acceptance.</a:t>
            </a:r>
          </a:p>
        </p:txBody>
      </p:sp>
      <p:sp>
        <p:nvSpPr>
          <p:cNvPr id="87" name="Rectangle 86"/>
          <p:cNvSpPr/>
          <p:nvPr/>
        </p:nvSpPr>
        <p:spPr>
          <a:xfrm>
            <a:off x="20188799" y="5623200"/>
            <a:ext cx="10007999" cy="2520000"/>
          </a:xfrm>
          <a:prstGeom prst="rect">
            <a:avLst/>
          </a:prstGeom>
          <a:solidFill>
            <a:srgbClr val="E6F5ED"/>
          </a:solidFill>
          <a:ln w="9525">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20188799" y="5623200"/>
            <a:ext cx="10007999" cy="316800"/>
          </a:xfrm>
          <a:prstGeom prst="rect">
            <a:avLst/>
          </a:prstGeom>
          <a:solidFill>
            <a:srgbClr val="12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0188799" y="5644800"/>
            <a:ext cx="10007999" cy="280800"/>
          </a:xfrm>
          <a:prstGeom prst="rect">
            <a:avLst/>
          </a:prstGeom>
          <a:noFill/>
        </p:spPr>
        <p:txBody>
          <a:bodyPr wrap="square">
            <a:spAutoFit/>
          </a:bodyPr>
          <a:lstStyle/>
          <a:p>
            <a:pPr algn="ctr"/>
            <a:r>
              <a:rPr sz="880" b="1" i="0">
                <a:solidFill>
                  <a:srgbClr val="FFFFFF"/>
                </a:solidFill>
                <a:latin typeface="Calibri"/>
              </a:rPr>
              <a:t>VERIFICATION &amp; RESULTS</a:t>
            </a:r>
          </a:p>
        </p:txBody>
      </p:sp>
      <p:sp>
        <p:nvSpPr>
          <p:cNvPr id="90" name="TextBox 89"/>
          <p:cNvSpPr txBox="1"/>
          <p:nvPr/>
        </p:nvSpPr>
        <p:spPr>
          <a:xfrm>
            <a:off x="20296799" y="5975999"/>
            <a:ext cx="9791999" cy="413999"/>
          </a:xfrm>
          <a:prstGeom prst="rect">
            <a:avLst/>
          </a:prstGeom>
          <a:noFill/>
        </p:spPr>
        <p:txBody>
          <a:bodyPr wrap="square">
            <a:spAutoFit/>
          </a:bodyPr>
          <a:lstStyle/>
          <a:p>
            <a:pPr algn="ctr"/>
            <a:r>
              <a:rPr sz="1800" b="1" i="0">
                <a:solidFill>
                  <a:srgbClr val="126B3A"/>
                </a:solidFill>
                <a:latin typeface="Calibri"/>
              </a:rPr>
              <a:t>975 TESTS PASSED</a:t>
            </a:r>
          </a:p>
        </p:txBody>
      </p:sp>
      <p:sp>
        <p:nvSpPr>
          <p:cNvPr id="91" name="Rectangle 90"/>
          <p:cNvSpPr/>
          <p:nvPr/>
        </p:nvSpPr>
        <p:spPr>
          <a:xfrm>
            <a:off x="20260799" y="6415200"/>
            <a:ext cx="4913999" cy="251999"/>
          </a:xfrm>
          <a:prstGeom prst="rect">
            <a:avLst/>
          </a:prstGeom>
          <a:solidFill>
            <a:srgbClr val="FFFFFF"/>
          </a:solidFill>
          <a:ln w="6350">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0260799" y="6433199"/>
            <a:ext cx="4913999" cy="234000"/>
          </a:xfrm>
          <a:prstGeom prst="rect">
            <a:avLst/>
          </a:prstGeom>
          <a:noFill/>
        </p:spPr>
        <p:txBody>
          <a:bodyPr wrap="square">
            <a:spAutoFit/>
          </a:bodyPr>
          <a:lstStyle/>
          <a:p>
            <a:pPr algn="ctr"/>
            <a:r>
              <a:rPr sz="800" b="1" i="0">
                <a:solidFill>
                  <a:srgbClr val="17559A"/>
                </a:solidFill>
                <a:latin typeface="Calibri"/>
              </a:rPr>
              <a:t>Frontend  65 / 65</a:t>
            </a:r>
          </a:p>
        </p:txBody>
      </p:sp>
      <p:sp>
        <p:nvSpPr>
          <p:cNvPr id="93" name="Rectangle 92"/>
          <p:cNvSpPr/>
          <p:nvPr/>
        </p:nvSpPr>
        <p:spPr>
          <a:xfrm>
            <a:off x="25210799" y="6415200"/>
            <a:ext cx="4913999" cy="251999"/>
          </a:xfrm>
          <a:prstGeom prst="rect">
            <a:avLst/>
          </a:prstGeom>
          <a:solidFill>
            <a:srgbClr val="FFFFFF"/>
          </a:solidFill>
          <a:ln w="6350">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5210799" y="6433199"/>
            <a:ext cx="4913999" cy="234000"/>
          </a:xfrm>
          <a:prstGeom prst="rect">
            <a:avLst/>
          </a:prstGeom>
          <a:noFill/>
        </p:spPr>
        <p:txBody>
          <a:bodyPr wrap="square">
            <a:spAutoFit/>
          </a:bodyPr>
          <a:lstStyle/>
          <a:p>
            <a:pPr algn="ctr"/>
            <a:r>
              <a:rPr sz="800" b="1" i="0">
                <a:solidFill>
                  <a:srgbClr val="17559A"/>
                </a:solidFill>
                <a:latin typeface="Calibri"/>
              </a:rPr>
              <a:t>Backend  910 / 910</a:t>
            </a:r>
          </a:p>
        </p:txBody>
      </p:sp>
      <p:sp>
        <p:nvSpPr>
          <p:cNvPr id="95" name="TextBox 94"/>
          <p:cNvSpPr txBox="1"/>
          <p:nvPr/>
        </p:nvSpPr>
        <p:spPr>
          <a:xfrm>
            <a:off x="20253599" y="6721199"/>
            <a:ext cx="9878400" cy="1368000"/>
          </a:xfrm>
          <a:prstGeom prst="rect">
            <a:avLst/>
          </a:prstGeom>
          <a:noFill/>
        </p:spPr>
        <p:txBody>
          <a:bodyPr wrap="square">
            <a:spAutoFit/>
          </a:bodyPr>
          <a:lstStyle/>
          <a:p>
            <a:pPr algn="l"/>
            <a:r>
              <a:rPr sz="630" b="0" i="0">
                <a:solidFill>
                  <a:srgbClr val="2A2A3A"/>
                </a:solidFill>
                <a:latin typeface="Calibri"/>
              </a:rPr>
              <a:t>✓ Native simulator movement verified
✓ Route progress &amp; distance accumulation
✓ ETA calculation verified
✓ Weather synchronization verified
✓ Signal Agent advisory chain verified
✓ Engine provenance integrity verified
✓ Map &amp; telemetry synchronization
✓ Fuel / battery evolution verified
✓ Pause / reset cycle verified
✓ Engineering Workbench preserved
✓ 6,228 raw data files validated
✓ 0 actuator commands confirmed</a:t>
            </a:r>
          </a:p>
        </p:txBody>
      </p:sp>
      <p:sp>
        <p:nvSpPr>
          <p:cNvPr id="96" name="Rectangle 95"/>
          <p:cNvSpPr/>
          <p:nvPr/>
        </p:nvSpPr>
        <p:spPr>
          <a:xfrm>
            <a:off x="20188799" y="8215200"/>
            <a:ext cx="10007999" cy="3168000"/>
          </a:xfrm>
          <a:prstGeom prst="rect">
            <a:avLst/>
          </a:prstGeom>
          <a:solidFill>
            <a:srgbClr val="E6F5ED"/>
          </a:solidFill>
          <a:ln w="9525">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20188799" y="8215200"/>
            <a:ext cx="10007999" cy="316800"/>
          </a:xfrm>
          <a:prstGeom prst="rect">
            <a:avLst/>
          </a:prstGeom>
          <a:solidFill>
            <a:srgbClr val="12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0188799" y="8236800"/>
            <a:ext cx="10007999" cy="280800"/>
          </a:xfrm>
          <a:prstGeom prst="rect">
            <a:avLst/>
          </a:prstGeom>
          <a:noFill/>
        </p:spPr>
        <p:txBody>
          <a:bodyPr wrap="square">
            <a:spAutoFit/>
          </a:bodyPr>
          <a:lstStyle/>
          <a:p>
            <a:pPr algn="ctr"/>
            <a:r>
              <a:rPr sz="880" b="1" i="0">
                <a:solidFill>
                  <a:srgbClr val="FFFFFF"/>
                </a:solidFill>
                <a:latin typeface="Calibri"/>
              </a:rPr>
              <a:t>ENGINEERING WORKBENCH</a:t>
            </a:r>
          </a:p>
        </p:txBody>
      </p:sp>
      <p:sp>
        <p:nvSpPr>
          <p:cNvPr id="99" name="Rectangle 98"/>
          <p:cNvSpPr/>
          <p:nvPr/>
        </p:nvSpPr>
        <p:spPr>
          <a:xfrm>
            <a:off x="20267999" y="8568000"/>
            <a:ext cx="9849599" cy="216000"/>
          </a:xfrm>
          <a:prstGeom prst="rect">
            <a:avLst/>
          </a:prstGeom>
          <a:solidFill>
            <a:srgbClr val="E0F4E0"/>
          </a:solidFill>
          <a:ln w="3810">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0311199" y="8589600"/>
            <a:ext cx="9763200" cy="180000"/>
          </a:xfrm>
          <a:prstGeom prst="rect">
            <a:avLst/>
          </a:prstGeom>
          <a:noFill/>
        </p:spPr>
        <p:txBody>
          <a:bodyPr wrap="square">
            <a:spAutoFit/>
          </a:bodyPr>
          <a:lstStyle/>
          <a:p>
            <a:pPr algn="l"/>
            <a:r>
              <a:rPr sz="670" b="1" i="0">
                <a:solidFill>
                  <a:srgbClr val="2A2A3A"/>
                </a:solidFill>
                <a:latin typeface="Calibri"/>
              </a:rPr>
              <a:t>Voyage Simulation</a:t>
            </a:r>
          </a:p>
        </p:txBody>
      </p:sp>
      <p:sp>
        <p:nvSpPr>
          <p:cNvPr id="101" name="Rectangle 100"/>
          <p:cNvSpPr/>
          <p:nvPr/>
        </p:nvSpPr>
        <p:spPr>
          <a:xfrm>
            <a:off x="20267999" y="8794800"/>
            <a:ext cx="9849599" cy="216000"/>
          </a:xfrm>
          <a:prstGeom prst="rect">
            <a:avLst/>
          </a:prstGeom>
          <a:solidFill>
            <a:srgbClr val="CCECCC"/>
          </a:solidFill>
          <a:ln w="3810">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0311199" y="8816400"/>
            <a:ext cx="9763200" cy="180000"/>
          </a:xfrm>
          <a:prstGeom prst="rect">
            <a:avLst/>
          </a:prstGeom>
          <a:noFill/>
        </p:spPr>
        <p:txBody>
          <a:bodyPr wrap="square">
            <a:spAutoFit/>
          </a:bodyPr>
          <a:lstStyle/>
          <a:p>
            <a:pPr algn="l"/>
            <a:r>
              <a:rPr sz="670" b="0" i="0">
                <a:solidFill>
                  <a:srgbClr val="2A2A3A"/>
                </a:solidFill>
                <a:latin typeface="Calibri"/>
              </a:rPr>
              <a:t>Sizing Evaluation</a:t>
            </a:r>
          </a:p>
        </p:txBody>
      </p:sp>
      <p:sp>
        <p:nvSpPr>
          <p:cNvPr id="103" name="Rectangle 102"/>
          <p:cNvSpPr/>
          <p:nvPr/>
        </p:nvSpPr>
        <p:spPr>
          <a:xfrm>
            <a:off x="20267999" y="9021600"/>
            <a:ext cx="9849599" cy="216000"/>
          </a:xfrm>
          <a:prstGeom prst="rect">
            <a:avLst/>
          </a:prstGeom>
          <a:solidFill>
            <a:srgbClr val="E0F4E0"/>
          </a:solidFill>
          <a:ln w="3810">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0311199" y="9043200"/>
            <a:ext cx="9763200" cy="180000"/>
          </a:xfrm>
          <a:prstGeom prst="rect">
            <a:avLst/>
          </a:prstGeom>
          <a:noFill/>
        </p:spPr>
        <p:txBody>
          <a:bodyPr wrap="square">
            <a:spAutoFit/>
          </a:bodyPr>
          <a:lstStyle/>
          <a:p>
            <a:pPr algn="l"/>
            <a:r>
              <a:rPr sz="670" b="0" i="0">
                <a:solidFill>
                  <a:srgbClr val="2A2A3A"/>
                </a:solidFill>
                <a:latin typeface="Calibri"/>
              </a:rPr>
              <a:t>Sizing Optimization</a:t>
            </a:r>
          </a:p>
        </p:txBody>
      </p:sp>
      <p:sp>
        <p:nvSpPr>
          <p:cNvPr id="105" name="Rectangle 104"/>
          <p:cNvSpPr/>
          <p:nvPr/>
        </p:nvSpPr>
        <p:spPr>
          <a:xfrm>
            <a:off x="20267999" y="9248400"/>
            <a:ext cx="9849599" cy="216000"/>
          </a:xfrm>
          <a:prstGeom prst="rect">
            <a:avLst/>
          </a:prstGeom>
          <a:solidFill>
            <a:srgbClr val="CCECCC"/>
          </a:solidFill>
          <a:ln w="3810">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311199" y="9269999"/>
            <a:ext cx="9763200" cy="180000"/>
          </a:xfrm>
          <a:prstGeom prst="rect">
            <a:avLst/>
          </a:prstGeom>
          <a:noFill/>
        </p:spPr>
        <p:txBody>
          <a:bodyPr wrap="square">
            <a:spAutoFit/>
          </a:bodyPr>
          <a:lstStyle/>
          <a:p>
            <a:pPr algn="l"/>
            <a:r>
              <a:rPr sz="670" b="0" i="0">
                <a:solidFill>
                  <a:srgbClr val="2A2A3A"/>
                </a:solidFill>
                <a:latin typeface="Calibri"/>
              </a:rPr>
              <a:t>Speed Co-Optimization</a:t>
            </a:r>
          </a:p>
        </p:txBody>
      </p:sp>
      <p:sp>
        <p:nvSpPr>
          <p:cNvPr id="107" name="Rectangle 106"/>
          <p:cNvSpPr/>
          <p:nvPr/>
        </p:nvSpPr>
        <p:spPr>
          <a:xfrm>
            <a:off x="20267999" y="9475199"/>
            <a:ext cx="9849599" cy="216000"/>
          </a:xfrm>
          <a:prstGeom prst="rect">
            <a:avLst/>
          </a:prstGeom>
          <a:solidFill>
            <a:srgbClr val="E0F4E0"/>
          </a:solidFill>
          <a:ln w="3810">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0311199" y="9496799"/>
            <a:ext cx="9763200" cy="180000"/>
          </a:xfrm>
          <a:prstGeom prst="rect">
            <a:avLst/>
          </a:prstGeom>
          <a:noFill/>
        </p:spPr>
        <p:txBody>
          <a:bodyPr wrap="square">
            <a:spAutoFit/>
          </a:bodyPr>
          <a:lstStyle/>
          <a:p>
            <a:pPr algn="l"/>
            <a:r>
              <a:rPr sz="670" b="0" i="0">
                <a:solidFill>
                  <a:srgbClr val="2A2A3A"/>
                </a:solidFill>
                <a:latin typeface="Calibri"/>
              </a:rPr>
              <a:t>Sensitivity Analysis</a:t>
            </a:r>
          </a:p>
        </p:txBody>
      </p:sp>
      <p:sp>
        <p:nvSpPr>
          <p:cNvPr id="109" name="Rectangle 108"/>
          <p:cNvSpPr/>
          <p:nvPr/>
        </p:nvSpPr>
        <p:spPr>
          <a:xfrm>
            <a:off x="20267999" y="9701999"/>
            <a:ext cx="9849599" cy="216000"/>
          </a:xfrm>
          <a:prstGeom prst="rect">
            <a:avLst/>
          </a:prstGeom>
          <a:solidFill>
            <a:srgbClr val="CCECCC"/>
          </a:solidFill>
          <a:ln w="3810">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0311199" y="9723599"/>
            <a:ext cx="9763200" cy="180000"/>
          </a:xfrm>
          <a:prstGeom prst="rect">
            <a:avLst/>
          </a:prstGeom>
          <a:noFill/>
        </p:spPr>
        <p:txBody>
          <a:bodyPr wrap="square">
            <a:spAutoFit/>
          </a:bodyPr>
          <a:lstStyle/>
          <a:p>
            <a:pPr algn="l"/>
            <a:r>
              <a:rPr sz="670" b="0" i="0">
                <a:solidFill>
                  <a:srgbClr val="2A2A3A"/>
                </a:solidFill>
                <a:latin typeface="Calibri"/>
              </a:rPr>
              <a:t>Break-Even Analysis</a:t>
            </a:r>
          </a:p>
        </p:txBody>
      </p:sp>
      <p:sp>
        <p:nvSpPr>
          <p:cNvPr id="111" name="Rectangle 110"/>
          <p:cNvSpPr/>
          <p:nvPr/>
        </p:nvSpPr>
        <p:spPr>
          <a:xfrm>
            <a:off x="20267999" y="9928799"/>
            <a:ext cx="9849599" cy="216000"/>
          </a:xfrm>
          <a:prstGeom prst="rect">
            <a:avLst/>
          </a:prstGeom>
          <a:solidFill>
            <a:srgbClr val="E0F4E0"/>
          </a:solidFill>
          <a:ln w="3810">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0311199" y="9950399"/>
            <a:ext cx="9763200" cy="180000"/>
          </a:xfrm>
          <a:prstGeom prst="rect">
            <a:avLst/>
          </a:prstGeom>
          <a:noFill/>
        </p:spPr>
        <p:txBody>
          <a:bodyPr wrap="square">
            <a:spAutoFit/>
          </a:bodyPr>
          <a:lstStyle/>
          <a:p>
            <a:pPr algn="l"/>
            <a:r>
              <a:rPr sz="670" b="0" i="0">
                <a:solidFill>
                  <a:srgbClr val="2A2A3A"/>
                </a:solidFill>
                <a:latin typeface="Calibri"/>
              </a:rPr>
              <a:t>2D Grid Analysis</a:t>
            </a:r>
          </a:p>
        </p:txBody>
      </p:sp>
      <p:sp>
        <p:nvSpPr>
          <p:cNvPr id="113" name="Rectangle 112"/>
          <p:cNvSpPr/>
          <p:nvPr/>
        </p:nvSpPr>
        <p:spPr>
          <a:xfrm>
            <a:off x="20267999" y="10155599"/>
            <a:ext cx="9849599" cy="216000"/>
          </a:xfrm>
          <a:prstGeom prst="rect">
            <a:avLst/>
          </a:prstGeom>
          <a:solidFill>
            <a:srgbClr val="CCECCC"/>
          </a:solidFill>
          <a:ln w="3810">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20311199" y="10177199"/>
            <a:ext cx="9763200" cy="180000"/>
          </a:xfrm>
          <a:prstGeom prst="rect">
            <a:avLst/>
          </a:prstGeom>
          <a:noFill/>
        </p:spPr>
        <p:txBody>
          <a:bodyPr wrap="square">
            <a:spAutoFit/>
          </a:bodyPr>
          <a:lstStyle/>
          <a:p>
            <a:pPr algn="l"/>
            <a:r>
              <a:rPr sz="670" b="0" i="0">
                <a:solidFill>
                  <a:srgbClr val="2A2A3A"/>
                </a:solidFill>
                <a:latin typeface="Calibri"/>
              </a:rPr>
              <a:t>Fleet Portfolio</a:t>
            </a:r>
          </a:p>
        </p:txBody>
      </p:sp>
      <p:sp>
        <p:nvSpPr>
          <p:cNvPr id="115" name="Rectangle 114"/>
          <p:cNvSpPr/>
          <p:nvPr/>
        </p:nvSpPr>
        <p:spPr>
          <a:xfrm>
            <a:off x="20267999" y="10382399"/>
            <a:ext cx="9849599" cy="216000"/>
          </a:xfrm>
          <a:prstGeom prst="rect">
            <a:avLst/>
          </a:prstGeom>
          <a:solidFill>
            <a:srgbClr val="E0F4E0"/>
          </a:solidFill>
          <a:ln w="3810">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0311199" y="10403999"/>
            <a:ext cx="9763200" cy="180000"/>
          </a:xfrm>
          <a:prstGeom prst="rect">
            <a:avLst/>
          </a:prstGeom>
          <a:noFill/>
        </p:spPr>
        <p:txBody>
          <a:bodyPr wrap="square">
            <a:spAutoFit/>
          </a:bodyPr>
          <a:lstStyle/>
          <a:p>
            <a:pPr algn="l"/>
            <a:r>
              <a:rPr sz="670" b="0" i="0">
                <a:solidFill>
                  <a:srgbClr val="2A2A3A"/>
                </a:solidFill>
                <a:latin typeface="Calibri"/>
              </a:rPr>
              <a:t>CII Trajectory</a:t>
            </a:r>
          </a:p>
        </p:txBody>
      </p:sp>
      <p:sp>
        <p:nvSpPr>
          <p:cNvPr id="117" name="Rectangle 116"/>
          <p:cNvSpPr/>
          <p:nvPr/>
        </p:nvSpPr>
        <p:spPr>
          <a:xfrm>
            <a:off x="20267999" y="10609199"/>
            <a:ext cx="9849599" cy="216000"/>
          </a:xfrm>
          <a:prstGeom prst="rect">
            <a:avLst/>
          </a:prstGeom>
          <a:solidFill>
            <a:srgbClr val="CCECCC"/>
          </a:solidFill>
          <a:ln w="3810">
            <a:solidFill>
              <a:srgbClr val="126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0311199" y="10630799"/>
            <a:ext cx="9763200" cy="180000"/>
          </a:xfrm>
          <a:prstGeom prst="rect">
            <a:avLst/>
          </a:prstGeom>
          <a:noFill/>
        </p:spPr>
        <p:txBody>
          <a:bodyPr wrap="square">
            <a:spAutoFit/>
          </a:bodyPr>
          <a:lstStyle/>
          <a:p>
            <a:pPr algn="l"/>
            <a:r>
              <a:rPr sz="670" b="0" i="0">
                <a:solidFill>
                  <a:srgbClr val="2A2A3A"/>
                </a:solidFill>
                <a:latin typeface="Calibri"/>
              </a:rPr>
              <a:t>Scenario Dossier / Export</a:t>
            </a:r>
          </a:p>
        </p:txBody>
      </p:sp>
      <p:sp>
        <p:nvSpPr>
          <p:cNvPr id="119" name="TextBox 118"/>
          <p:cNvSpPr txBox="1"/>
          <p:nvPr/>
        </p:nvSpPr>
        <p:spPr>
          <a:xfrm>
            <a:off x="20242799" y="11124000"/>
            <a:ext cx="9899999" cy="234000"/>
          </a:xfrm>
          <a:prstGeom prst="rect">
            <a:avLst/>
          </a:prstGeom>
          <a:noFill/>
        </p:spPr>
        <p:txBody>
          <a:bodyPr wrap="square">
            <a:spAutoFit/>
          </a:bodyPr>
          <a:lstStyle/>
          <a:p>
            <a:pPr algn="ctr"/>
            <a:r>
              <a:rPr sz="670" b="1" i="0">
                <a:solidFill>
                  <a:srgbClr val="126B3A"/>
                </a:solidFill>
                <a:latin typeface="Calibri"/>
              </a:rPr>
              <a:t>Simulation → Analysis → Optimization → Decision</a:t>
            </a:r>
          </a:p>
        </p:txBody>
      </p:sp>
      <p:sp>
        <p:nvSpPr>
          <p:cNvPr id="120" name="Rectangle 119"/>
          <p:cNvSpPr/>
          <p:nvPr/>
        </p:nvSpPr>
        <p:spPr>
          <a:xfrm>
            <a:off x="20188799" y="11455200"/>
            <a:ext cx="10007999" cy="2520000"/>
          </a:xfrm>
          <a:prstGeom prst="rect">
            <a:avLst/>
          </a:prstGeom>
          <a:solidFill>
            <a:srgbClr val="FFF4E0"/>
          </a:solidFill>
          <a:ln w="9525">
            <a:solidFill>
              <a:srgbClr val="C8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20188799" y="11455200"/>
            <a:ext cx="10007999" cy="316800"/>
          </a:xfrm>
          <a:prstGeom prst="rect">
            <a:avLst/>
          </a:prstGeom>
          <a:solidFill>
            <a:srgbClr val="C8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0188799" y="11476800"/>
            <a:ext cx="10007999" cy="280800"/>
          </a:xfrm>
          <a:prstGeom prst="rect">
            <a:avLst/>
          </a:prstGeom>
          <a:noFill/>
        </p:spPr>
        <p:txBody>
          <a:bodyPr wrap="square">
            <a:spAutoFit/>
          </a:bodyPr>
          <a:lstStyle/>
          <a:p>
            <a:pPr algn="ctr"/>
            <a:r>
              <a:rPr sz="880" b="1" i="0">
                <a:solidFill>
                  <a:srgbClr val="FFFFFF"/>
                </a:solidFill>
                <a:latin typeface="Calibri"/>
              </a:rPr>
              <a:t>SIGNAL AGENT — HUMAN-IN-THE-LOOP</a:t>
            </a:r>
          </a:p>
        </p:txBody>
      </p:sp>
      <p:sp>
        <p:nvSpPr>
          <p:cNvPr id="123" name="Rectangle 122"/>
          <p:cNvSpPr/>
          <p:nvPr/>
        </p:nvSpPr>
        <p:spPr>
          <a:xfrm>
            <a:off x="20289599" y="11797200"/>
            <a:ext cx="9806400" cy="172800"/>
          </a:xfrm>
          <a:prstGeom prst="rect">
            <a:avLst/>
          </a:prstGeom>
          <a:solidFill>
            <a:srgbClr val="E8F3FD"/>
          </a:solidFill>
          <a:ln w="3810">
            <a:solidFill>
              <a:srgbClr val="C8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0314799" y="11808000"/>
            <a:ext cx="9756000" cy="151200"/>
          </a:xfrm>
          <a:prstGeom prst="rect">
            <a:avLst/>
          </a:prstGeom>
          <a:noFill/>
        </p:spPr>
        <p:txBody>
          <a:bodyPr wrap="square">
            <a:spAutoFit/>
          </a:bodyPr>
          <a:lstStyle/>
          <a:p>
            <a:pPr algn="ctr"/>
            <a:r>
              <a:rPr sz="630" b="0" i="0">
                <a:solidFill>
                  <a:srgbClr val="2A2A3A"/>
                </a:solidFill>
                <a:latin typeface="Calibri"/>
              </a:rPr>
              <a:t>Vessel State + Weather + Fuel + Battery</a:t>
            </a:r>
          </a:p>
        </p:txBody>
      </p:sp>
      <p:sp>
        <p:nvSpPr>
          <p:cNvPr id="125" name="Rectangle 124"/>
          <p:cNvSpPr/>
          <p:nvPr/>
        </p:nvSpPr>
        <p:spPr>
          <a:xfrm>
            <a:off x="20289599" y="11998800"/>
            <a:ext cx="9806400" cy="172800"/>
          </a:xfrm>
          <a:prstGeom prst="rect">
            <a:avLst/>
          </a:prstGeom>
          <a:solidFill>
            <a:srgbClr val="E8F3FD"/>
          </a:solidFill>
          <a:ln w="3810">
            <a:solidFill>
              <a:srgbClr val="C8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0314799" y="12009600"/>
            <a:ext cx="9756000" cy="151200"/>
          </a:xfrm>
          <a:prstGeom prst="rect">
            <a:avLst/>
          </a:prstGeom>
          <a:noFill/>
        </p:spPr>
        <p:txBody>
          <a:bodyPr wrap="square">
            <a:spAutoFit/>
          </a:bodyPr>
          <a:lstStyle/>
          <a:p>
            <a:pPr algn="ctr"/>
            <a:r>
              <a:rPr sz="630" b="0" i="0">
                <a:solidFill>
                  <a:srgbClr val="2A2A3A"/>
                </a:solidFill>
                <a:latin typeface="Calibri"/>
              </a:rPr>
              <a:t>+ Route Lookahead + Regulatory State</a:t>
            </a:r>
          </a:p>
        </p:txBody>
      </p:sp>
      <p:sp>
        <p:nvSpPr>
          <p:cNvPr id="127" name="TextBox 126"/>
          <p:cNvSpPr txBox="1"/>
          <p:nvPr/>
        </p:nvSpPr>
        <p:spPr>
          <a:xfrm>
            <a:off x="20332799" y="12200400"/>
            <a:ext cx="9719999" cy="187200"/>
          </a:xfrm>
          <a:prstGeom prst="rect">
            <a:avLst/>
          </a:prstGeom>
          <a:noFill/>
        </p:spPr>
        <p:txBody>
          <a:bodyPr wrap="square">
            <a:spAutoFit/>
          </a:bodyPr>
          <a:lstStyle/>
          <a:p>
            <a:pPr algn="ctr"/>
            <a:r>
              <a:rPr sz="700" b="1" i="0">
                <a:solidFill>
                  <a:srgbClr val="C86000"/>
                </a:solidFill>
                <a:latin typeface="Calibri"/>
              </a:rPr>
              <a:t>▼  SIGNAL AGENT  ▼</a:t>
            </a:r>
          </a:p>
        </p:txBody>
      </p:sp>
      <p:sp>
        <p:nvSpPr>
          <p:cNvPr id="128" name="Rectangle 127"/>
          <p:cNvSpPr/>
          <p:nvPr/>
        </p:nvSpPr>
        <p:spPr>
          <a:xfrm>
            <a:off x="20289599" y="12402000"/>
            <a:ext cx="9806400" cy="172800"/>
          </a:xfrm>
          <a:prstGeom prst="rect">
            <a:avLst/>
          </a:prstGeom>
          <a:solidFill>
            <a:srgbClr val="E6F5ED"/>
          </a:solidFill>
          <a:ln w="3810">
            <a:solidFill>
              <a:srgbClr val="C8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0314799" y="12412800"/>
            <a:ext cx="9756000" cy="151200"/>
          </a:xfrm>
          <a:prstGeom prst="rect">
            <a:avLst/>
          </a:prstGeom>
          <a:noFill/>
        </p:spPr>
        <p:txBody>
          <a:bodyPr wrap="square">
            <a:spAutoFit/>
          </a:bodyPr>
          <a:lstStyle/>
          <a:p>
            <a:pPr algn="ctr"/>
            <a:r>
              <a:rPr sz="630" b="0" i="0">
                <a:solidFill>
                  <a:srgbClr val="2A2A3A"/>
                </a:solidFill>
                <a:latin typeface="Calibri"/>
              </a:rPr>
              <a:t>NORMAL</a:t>
            </a:r>
          </a:p>
        </p:txBody>
      </p:sp>
      <p:sp>
        <p:nvSpPr>
          <p:cNvPr id="130" name="Rectangle 129"/>
          <p:cNvSpPr/>
          <p:nvPr/>
        </p:nvSpPr>
        <p:spPr>
          <a:xfrm>
            <a:off x="20289599" y="12603600"/>
            <a:ext cx="9806400" cy="172800"/>
          </a:xfrm>
          <a:prstGeom prst="rect">
            <a:avLst/>
          </a:prstGeom>
          <a:solidFill>
            <a:srgbClr val="FFF4E0"/>
          </a:solidFill>
          <a:ln w="3810">
            <a:solidFill>
              <a:srgbClr val="C8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0314799" y="12614400"/>
            <a:ext cx="9756000" cy="151200"/>
          </a:xfrm>
          <a:prstGeom prst="rect">
            <a:avLst/>
          </a:prstGeom>
          <a:noFill/>
        </p:spPr>
        <p:txBody>
          <a:bodyPr wrap="square">
            <a:spAutoFit/>
          </a:bodyPr>
          <a:lstStyle/>
          <a:p>
            <a:pPr algn="ctr"/>
            <a:r>
              <a:rPr sz="630" b="0" i="0">
                <a:solidFill>
                  <a:srgbClr val="2A2A3A"/>
                </a:solidFill>
                <a:latin typeface="Calibri"/>
              </a:rPr>
              <a:t>WEATHER ALERT</a:t>
            </a:r>
          </a:p>
        </p:txBody>
      </p:sp>
      <p:sp>
        <p:nvSpPr>
          <p:cNvPr id="132" name="Rectangle 131"/>
          <p:cNvSpPr/>
          <p:nvPr/>
        </p:nvSpPr>
        <p:spPr>
          <a:xfrm>
            <a:off x="20289599" y="12805200"/>
            <a:ext cx="9806400" cy="172800"/>
          </a:xfrm>
          <a:prstGeom prst="rect">
            <a:avLst/>
          </a:prstGeom>
          <a:solidFill>
            <a:srgbClr val="FFF4E0"/>
          </a:solidFill>
          <a:ln w="3810">
            <a:solidFill>
              <a:srgbClr val="C8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0314799" y="12816000"/>
            <a:ext cx="9756000" cy="151200"/>
          </a:xfrm>
          <a:prstGeom prst="rect">
            <a:avLst/>
          </a:prstGeom>
          <a:noFill/>
        </p:spPr>
        <p:txBody>
          <a:bodyPr wrap="square">
            <a:spAutoFit/>
          </a:bodyPr>
          <a:lstStyle/>
          <a:p>
            <a:pPr algn="ctr"/>
            <a:r>
              <a:rPr sz="630" b="0" i="0">
                <a:solidFill>
                  <a:srgbClr val="2A2A3A"/>
                </a:solidFill>
                <a:latin typeface="Calibri"/>
              </a:rPr>
              <a:t>FUEL ALERT</a:t>
            </a:r>
          </a:p>
        </p:txBody>
      </p:sp>
      <p:sp>
        <p:nvSpPr>
          <p:cNvPr id="134" name="Rectangle 133"/>
          <p:cNvSpPr/>
          <p:nvPr/>
        </p:nvSpPr>
        <p:spPr>
          <a:xfrm>
            <a:off x="20289599" y="13006800"/>
            <a:ext cx="9806400" cy="172800"/>
          </a:xfrm>
          <a:prstGeom prst="rect">
            <a:avLst/>
          </a:prstGeom>
          <a:solidFill>
            <a:srgbClr val="FFF4E0"/>
          </a:solidFill>
          <a:ln w="3810">
            <a:solidFill>
              <a:srgbClr val="C8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0314799" y="13017600"/>
            <a:ext cx="9756000" cy="151200"/>
          </a:xfrm>
          <a:prstGeom prst="rect">
            <a:avLst/>
          </a:prstGeom>
          <a:noFill/>
        </p:spPr>
        <p:txBody>
          <a:bodyPr wrap="square">
            <a:spAutoFit/>
          </a:bodyPr>
          <a:lstStyle/>
          <a:p>
            <a:pPr algn="ctr"/>
            <a:r>
              <a:rPr sz="630" b="0" i="0">
                <a:solidFill>
                  <a:srgbClr val="2A2A3A"/>
                </a:solidFill>
                <a:latin typeface="Calibri"/>
              </a:rPr>
              <a:t>BATTERY ALERT</a:t>
            </a:r>
          </a:p>
        </p:txBody>
      </p:sp>
      <p:sp>
        <p:nvSpPr>
          <p:cNvPr id="136" name="Rectangle 135"/>
          <p:cNvSpPr/>
          <p:nvPr/>
        </p:nvSpPr>
        <p:spPr>
          <a:xfrm>
            <a:off x="20289599" y="13208400"/>
            <a:ext cx="9806400" cy="172800"/>
          </a:xfrm>
          <a:prstGeom prst="rect">
            <a:avLst/>
          </a:prstGeom>
          <a:solidFill>
            <a:srgbClr val="FFF4E0"/>
          </a:solidFill>
          <a:ln w="3810">
            <a:solidFill>
              <a:srgbClr val="C8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0314799" y="13219200"/>
            <a:ext cx="9756000" cy="151200"/>
          </a:xfrm>
          <a:prstGeom prst="rect">
            <a:avLst/>
          </a:prstGeom>
          <a:noFill/>
        </p:spPr>
        <p:txBody>
          <a:bodyPr wrap="square">
            <a:spAutoFit/>
          </a:bodyPr>
          <a:lstStyle/>
          <a:p>
            <a:pPr algn="ctr"/>
            <a:r>
              <a:rPr sz="630" b="0" i="0">
                <a:solidFill>
                  <a:srgbClr val="2A2A3A"/>
                </a:solidFill>
                <a:latin typeface="Calibri"/>
              </a:rPr>
              <a:t>REGULATORY / CII ALERT</a:t>
            </a:r>
          </a:p>
        </p:txBody>
      </p:sp>
      <p:sp>
        <p:nvSpPr>
          <p:cNvPr id="138" name="TextBox 137"/>
          <p:cNvSpPr txBox="1"/>
          <p:nvPr/>
        </p:nvSpPr>
        <p:spPr>
          <a:xfrm>
            <a:off x="20332799" y="13410000"/>
            <a:ext cx="9719999" cy="187200"/>
          </a:xfrm>
          <a:prstGeom prst="rect">
            <a:avLst/>
          </a:prstGeom>
          <a:noFill/>
        </p:spPr>
        <p:txBody>
          <a:bodyPr wrap="square">
            <a:spAutoFit/>
          </a:bodyPr>
          <a:lstStyle/>
          <a:p>
            <a:pPr algn="ctr"/>
            <a:r>
              <a:rPr sz="700" b="1" i="0">
                <a:solidFill>
                  <a:srgbClr val="C86000"/>
                </a:solidFill>
                <a:latin typeface="Calibri"/>
              </a:rPr>
              <a:t>▼  HUMAN REVIEW  ▼</a:t>
            </a:r>
          </a:p>
        </p:txBody>
      </p:sp>
      <p:sp>
        <p:nvSpPr>
          <p:cNvPr id="139" name="TextBox 138"/>
          <p:cNvSpPr txBox="1"/>
          <p:nvPr/>
        </p:nvSpPr>
        <p:spPr>
          <a:xfrm>
            <a:off x="20242799" y="13633200"/>
            <a:ext cx="9899999" cy="234000"/>
          </a:xfrm>
          <a:prstGeom prst="rect">
            <a:avLst/>
          </a:prstGeom>
          <a:noFill/>
        </p:spPr>
        <p:txBody>
          <a:bodyPr wrap="square">
            <a:spAutoFit/>
          </a:bodyPr>
          <a:lstStyle/>
          <a:p>
            <a:pPr algn="ctr"/>
            <a:r>
              <a:rPr sz="620" b="1" i="0">
                <a:solidFill>
                  <a:srgbClr val="C86000"/>
                </a:solidFill>
                <a:latin typeface="Calibri"/>
              </a:rPr>
              <a:t>Signal Agent does NOT control the vessel.
All advisories require human review.</a:t>
            </a:r>
          </a:p>
        </p:txBody>
      </p:sp>
      <p:sp>
        <p:nvSpPr>
          <p:cNvPr id="140" name="Rectangle 139"/>
          <p:cNvSpPr/>
          <p:nvPr/>
        </p:nvSpPr>
        <p:spPr>
          <a:xfrm>
            <a:off x="20188799" y="14047200"/>
            <a:ext cx="10007999" cy="2232000"/>
          </a:xfrm>
          <a:prstGeom prst="rect">
            <a:avLst/>
          </a:prstGeom>
          <a:solidFill>
            <a:srgbClr val="F5F7FA"/>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0188799" y="14047200"/>
            <a:ext cx="10007999" cy="316800"/>
          </a:xfrm>
          <a:prstGeom prst="rect">
            <a:avLst/>
          </a:prstGeom>
          <a:solidFill>
            <a:srgbClr val="17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20231999" y="14068800"/>
            <a:ext cx="9921600" cy="280800"/>
          </a:xfrm>
          <a:prstGeom prst="rect">
            <a:avLst/>
          </a:prstGeom>
          <a:noFill/>
        </p:spPr>
        <p:txBody>
          <a:bodyPr wrap="square">
            <a:spAutoFit/>
          </a:bodyPr>
          <a:lstStyle/>
          <a:p>
            <a:pPr algn="ctr"/>
            <a:r>
              <a:rPr sz="880" b="1" i="0">
                <a:solidFill>
                  <a:srgbClr val="FFFFFF"/>
                </a:solidFill>
                <a:latin typeface="Calibri"/>
              </a:rPr>
              <a:t>IMO / CII / EMISSIONS ANALYSIS</a:t>
            </a:r>
          </a:p>
        </p:txBody>
      </p:sp>
      <p:sp>
        <p:nvSpPr>
          <p:cNvPr id="143" name="TextBox 142"/>
          <p:cNvSpPr txBox="1"/>
          <p:nvPr/>
        </p:nvSpPr>
        <p:spPr>
          <a:xfrm>
            <a:off x="20242799" y="14389200"/>
            <a:ext cx="9899999" cy="1872000"/>
          </a:xfrm>
          <a:prstGeom prst="rect">
            <a:avLst/>
          </a:prstGeom>
          <a:noFill/>
        </p:spPr>
        <p:txBody>
          <a:bodyPr wrap="square">
            <a:spAutoFit/>
          </a:bodyPr>
          <a:lstStyle/>
          <a:p>
            <a:pPr algn="l"/>
            <a:r>
              <a:rPr sz="630" b="0" i="0">
                <a:solidFill>
                  <a:srgbClr val="2A2A3A"/>
                </a:solidFill>
                <a:latin typeface="Calibri"/>
              </a:rPr>
              <a:t>Voyage + Speed + Fuel Consumption
       ↓  CO₂ Emissions Derived
CII = CO₂ × 1000 / (DWT × distance NM)
       ↓  Rating: A / B / C / D / E
MARPOL Annex VI Regulation 28:
  Statutory Z% Schedule 2023–2026:
  5% → 7% → 9% → 11%
Reference Line: MEPC.353(78)
Rating Bands: MEPC.354(78)
Multi-year CII trajectory simulation.
Clean-energy assisted compliance extension.
No official regulatory certification claimed.</a:t>
            </a:r>
          </a:p>
        </p:txBody>
      </p:sp>
      <p:sp>
        <p:nvSpPr>
          <p:cNvPr id="144" name="Rectangle 143"/>
          <p:cNvSpPr/>
          <p:nvPr/>
        </p:nvSpPr>
        <p:spPr>
          <a:xfrm>
            <a:off x="20188799" y="16351200"/>
            <a:ext cx="10007999" cy="1728000"/>
          </a:xfrm>
          <a:prstGeom prst="rect">
            <a:avLst/>
          </a:prstGeom>
          <a:solidFill>
            <a:srgbClr val="F5F7FA"/>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20188799" y="16351200"/>
            <a:ext cx="10007999" cy="316800"/>
          </a:xfrm>
          <a:prstGeom prst="rect">
            <a:avLst/>
          </a:prstGeom>
          <a:solidFill>
            <a:srgbClr val="17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20231999" y="16372800"/>
            <a:ext cx="9921600" cy="280800"/>
          </a:xfrm>
          <a:prstGeom prst="rect">
            <a:avLst/>
          </a:prstGeom>
          <a:noFill/>
        </p:spPr>
        <p:txBody>
          <a:bodyPr wrap="square">
            <a:spAutoFit/>
          </a:bodyPr>
          <a:lstStyle/>
          <a:p>
            <a:pPr algn="ctr"/>
            <a:r>
              <a:rPr sz="880" b="1" i="0">
                <a:solidFill>
                  <a:srgbClr val="FFFFFF"/>
                </a:solidFill>
                <a:latin typeface="Calibri"/>
              </a:rPr>
              <a:t>TELEMETRY &amp; BRIDGE COMMAND</a:t>
            </a:r>
          </a:p>
        </p:txBody>
      </p:sp>
      <p:sp>
        <p:nvSpPr>
          <p:cNvPr id="147" name="TextBox 146"/>
          <p:cNvSpPr txBox="1"/>
          <p:nvPr/>
        </p:nvSpPr>
        <p:spPr>
          <a:xfrm>
            <a:off x="20242799" y="16693200"/>
            <a:ext cx="9899999" cy="1368000"/>
          </a:xfrm>
          <a:prstGeom prst="rect">
            <a:avLst/>
          </a:prstGeom>
          <a:noFill/>
        </p:spPr>
        <p:txBody>
          <a:bodyPr wrap="square">
            <a:spAutoFit/>
          </a:bodyPr>
          <a:lstStyle/>
          <a:p>
            <a:pPr algn="l"/>
            <a:r>
              <a:rPr sz="630" b="0" i="0">
                <a:solidFill>
                  <a:srgbClr val="2A2A3A"/>
                </a:solidFill>
                <a:latin typeface="Calibri"/>
              </a:rPr>
              <a:t>Bridge Command 5.11.0  (Read-Only Standby)
   NMEA 0183 UDP → Port 10110
   $GPRMC · $GPGGA · $GPHDT · $GPVTG
   NMEA Adapter → CanonicalTelemetryPayload
   Telemetry Gateway → SSE/REST → Dashboard
Live evidence: SOG=5.0 kn · COG=90° confirmed
Native Simulator = Primary Demonstration
Bridge Command = Optional / Read-Only Standby
Port 10111: 0 connections (read-only verified)</a:t>
            </a:r>
          </a:p>
        </p:txBody>
      </p:sp>
      <p:sp>
        <p:nvSpPr>
          <p:cNvPr id="148" name="Rectangle 147"/>
          <p:cNvSpPr/>
          <p:nvPr/>
        </p:nvSpPr>
        <p:spPr>
          <a:xfrm>
            <a:off x="20188799" y="18151200"/>
            <a:ext cx="10007999" cy="1728000"/>
          </a:xfrm>
          <a:prstGeom prst="rect">
            <a:avLst/>
          </a:prstGeom>
          <a:solidFill>
            <a:srgbClr val="FFEBEB"/>
          </a:solidFill>
          <a:ln w="12700">
            <a:solidFill>
              <a:srgbClr val="B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20188799" y="18151200"/>
            <a:ext cx="10007999" cy="3168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20188799" y="18172800"/>
            <a:ext cx="10007999" cy="280800"/>
          </a:xfrm>
          <a:prstGeom prst="rect">
            <a:avLst/>
          </a:prstGeom>
          <a:noFill/>
        </p:spPr>
        <p:txBody>
          <a:bodyPr wrap="square">
            <a:spAutoFit/>
          </a:bodyPr>
          <a:lstStyle/>
          <a:p>
            <a:pPr algn="ctr"/>
            <a:r>
              <a:rPr sz="880" b="1" i="0">
                <a:solidFill>
                  <a:srgbClr val="FFFFFF"/>
                </a:solidFill>
                <a:latin typeface="Calibri"/>
              </a:rPr>
              <a:t>⚠  SAFETY BOUNDARY</a:t>
            </a:r>
          </a:p>
        </p:txBody>
      </p:sp>
      <p:sp>
        <p:nvSpPr>
          <p:cNvPr id="151" name="TextBox 150"/>
          <p:cNvSpPr txBox="1"/>
          <p:nvPr/>
        </p:nvSpPr>
        <p:spPr>
          <a:xfrm>
            <a:off x="20267999" y="18504000"/>
            <a:ext cx="9849599" cy="1332000"/>
          </a:xfrm>
          <a:prstGeom prst="rect">
            <a:avLst/>
          </a:prstGeom>
          <a:noFill/>
        </p:spPr>
        <p:txBody>
          <a:bodyPr wrap="square">
            <a:spAutoFit/>
          </a:bodyPr>
          <a:lstStyle/>
          <a:p>
            <a:pPr algn="l">
              <a:spcAft>
                <a:spcPts val="0"/>
              </a:spcAft>
            </a:pPr>
            <a:r>
              <a:rPr sz="730" b="1">
                <a:solidFill>
                  <a:srgbClr val="BB0000"/>
                </a:solidFill>
                <a:latin typeface="Calibri"/>
              </a:rPr>
              <a:t>✗  0 External Actuators</a:t>
            </a:r>
          </a:p>
          <a:p>
            <a:pPr algn="l">
              <a:spcAft>
                <a:spcPts val="0"/>
              </a:spcAft>
            </a:pPr>
            <a:r>
              <a:rPr sz="730" b="1">
                <a:solidFill>
                  <a:srgbClr val="BB0000"/>
                </a:solidFill>
                <a:latin typeface="Calibri"/>
              </a:rPr>
              <a:t>✗  0 External Control Commands</a:t>
            </a:r>
          </a:p>
          <a:p>
            <a:pPr algn="l">
              <a:spcAft>
                <a:spcPts val="0"/>
              </a:spcAft>
            </a:pPr>
            <a:r>
              <a:rPr sz="730" b="1">
                <a:solidFill>
                  <a:srgbClr val="126B3A"/>
                </a:solidFill>
                <a:latin typeface="Calibri"/>
              </a:rPr>
              <a:t>✓  Read-Only Operational Integration</a:t>
            </a:r>
          </a:p>
          <a:p>
            <a:pPr algn="l">
              <a:spcAft>
                <a:spcPts val="0"/>
              </a:spcAft>
            </a:pPr>
            <a:r>
              <a:rPr sz="730" b="1">
                <a:solidFill>
                  <a:srgbClr val="126B3A"/>
                </a:solidFill>
                <a:latin typeface="Calibri"/>
              </a:rPr>
              <a:t>✓  Human Review Required for All Advisories</a:t>
            </a:r>
          </a:p>
          <a:p>
            <a:pPr algn="l">
              <a:spcAft>
                <a:spcPts val="0"/>
              </a:spcAft>
            </a:pPr>
            <a:r>
              <a:rPr sz="730" b="1">
                <a:solidFill>
                  <a:srgbClr val="BB0000"/>
                </a:solidFill>
                <a:latin typeface="Calibri"/>
              </a:rPr>
              <a:t>✗  No Autonomous Steering</a:t>
            </a:r>
          </a:p>
          <a:p>
            <a:pPr algn="l">
              <a:spcAft>
                <a:spcPts val="0"/>
              </a:spcAft>
            </a:pPr>
            <a:r>
              <a:rPr sz="730" b="1">
                <a:solidFill>
                  <a:srgbClr val="BB0000"/>
                </a:solidFill>
                <a:latin typeface="Calibri"/>
              </a:rPr>
              <a:t>✗  No Autonomous Throttle</a:t>
            </a:r>
          </a:p>
          <a:p>
            <a:pPr algn="l">
              <a:spcAft>
                <a:spcPts val="0"/>
              </a:spcAft>
            </a:pPr>
            <a:r>
              <a:rPr sz="730" b="1">
                <a:solidFill>
                  <a:srgbClr val="BB0000"/>
                </a:solidFill>
                <a:latin typeface="Calibri"/>
              </a:rPr>
              <a:t>✗  No Autonomous Engine Control</a:t>
            </a:r>
          </a:p>
        </p:txBody>
      </p:sp>
      <p:sp>
        <p:nvSpPr>
          <p:cNvPr id="152" name="Rectangle 151"/>
          <p:cNvSpPr/>
          <p:nvPr/>
        </p:nvSpPr>
        <p:spPr>
          <a:xfrm>
            <a:off x="20188799" y="19951200"/>
            <a:ext cx="10007999" cy="1764000"/>
          </a:xfrm>
          <a:prstGeom prst="rect">
            <a:avLst/>
          </a:prstGeom>
          <a:solidFill>
            <a:srgbClr val="F5F7FA"/>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20188799" y="19951200"/>
            <a:ext cx="10007999" cy="316800"/>
          </a:xfrm>
          <a:prstGeom prst="rect">
            <a:avLst/>
          </a:prstGeom>
          <a:solidFill>
            <a:srgbClr val="17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20231999" y="19972800"/>
            <a:ext cx="9921600" cy="280800"/>
          </a:xfrm>
          <a:prstGeom prst="rect">
            <a:avLst/>
          </a:prstGeom>
          <a:noFill/>
        </p:spPr>
        <p:txBody>
          <a:bodyPr wrap="square">
            <a:spAutoFit/>
          </a:bodyPr>
          <a:lstStyle/>
          <a:p>
            <a:pPr algn="ctr"/>
            <a:r>
              <a:rPr sz="880" b="1" i="0">
                <a:solidFill>
                  <a:srgbClr val="FFFFFF"/>
                </a:solidFill>
                <a:latin typeface="Calibri"/>
              </a:rPr>
              <a:t>APPLICATIONS</a:t>
            </a:r>
          </a:p>
        </p:txBody>
      </p:sp>
      <p:sp>
        <p:nvSpPr>
          <p:cNvPr id="155" name="TextBox 154"/>
          <p:cNvSpPr txBox="1"/>
          <p:nvPr/>
        </p:nvSpPr>
        <p:spPr>
          <a:xfrm>
            <a:off x="20242799" y="20293200"/>
            <a:ext cx="9899999" cy="1404000"/>
          </a:xfrm>
          <a:prstGeom prst="rect">
            <a:avLst/>
          </a:prstGeom>
          <a:noFill/>
        </p:spPr>
        <p:txBody>
          <a:bodyPr wrap="square">
            <a:spAutoFit/>
          </a:bodyPr>
          <a:lstStyle/>
          <a:p>
            <a:pPr algn="l"/>
            <a:r>
              <a:rPr sz="640" b="0" i="0">
                <a:solidFill>
                  <a:srgbClr val="2A2A3A"/>
                </a:solidFill>
                <a:latin typeface="Calibri"/>
              </a:rPr>
              <a:t>• Voyage planning &amp; vessel performance analysis
• Fuel optimization
• Hybrid energy planning (battery + solar)
• Weather-aware voyage analysis
• Vessel sizing engineering
• Speed &amp; fleet optimization
• Emissions / CII scenario analysis
• Operational decision support</a:t>
            </a:r>
          </a:p>
        </p:txBody>
      </p:sp>
      <p:sp>
        <p:nvSpPr>
          <p:cNvPr id="156" name="Rectangle 155"/>
          <p:cNvSpPr/>
          <p:nvPr/>
        </p:nvSpPr>
        <p:spPr>
          <a:xfrm>
            <a:off x="20188799" y="21787200"/>
            <a:ext cx="10007999" cy="1260000"/>
          </a:xfrm>
          <a:prstGeom prst="rect">
            <a:avLst/>
          </a:prstGeom>
          <a:solidFill>
            <a:srgbClr val="F5F7FA"/>
          </a:solidFill>
          <a:ln w="6350">
            <a:solidFill>
              <a:srgbClr val="D0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20188799" y="21787200"/>
            <a:ext cx="10007999" cy="316800"/>
          </a:xfrm>
          <a:prstGeom prst="rect">
            <a:avLst/>
          </a:prstGeom>
          <a:solidFill>
            <a:srgbClr val="17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20231999" y="21808800"/>
            <a:ext cx="9921600" cy="280800"/>
          </a:xfrm>
          <a:prstGeom prst="rect">
            <a:avLst/>
          </a:prstGeom>
          <a:noFill/>
        </p:spPr>
        <p:txBody>
          <a:bodyPr wrap="square">
            <a:spAutoFit/>
          </a:bodyPr>
          <a:lstStyle/>
          <a:p>
            <a:pPr algn="ctr"/>
            <a:r>
              <a:rPr sz="880" b="1" i="0">
                <a:solidFill>
                  <a:srgbClr val="FFFFFF"/>
                </a:solidFill>
                <a:latin typeface="Calibri"/>
              </a:rPr>
              <a:t>FUTURE SCOPE</a:t>
            </a:r>
          </a:p>
        </p:txBody>
      </p:sp>
      <p:sp>
        <p:nvSpPr>
          <p:cNvPr id="159" name="TextBox 158"/>
          <p:cNvSpPr txBox="1"/>
          <p:nvPr/>
        </p:nvSpPr>
        <p:spPr>
          <a:xfrm>
            <a:off x="20242799" y="22129200"/>
            <a:ext cx="9899999" cy="900000"/>
          </a:xfrm>
          <a:prstGeom prst="rect">
            <a:avLst/>
          </a:prstGeom>
          <a:noFill/>
        </p:spPr>
        <p:txBody>
          <a:bodyPr wrap="square">
            <a:spAutoFit/>
          </a:bodyPr>
          <a:lstStyle/>
          <a:p>
            <a:pPr algn="l"/>
            <a:r>
              <a:rPr sz="640" b="0" i="0">
                <a:solidFill>
                  <a:srgbClr val="2A2A3A"/>
                </a:solidFill>
                <a:latin typeface="Calibri"/>
              </a:rPr>
              <a:t>• Larger route library
• Additional vessel profiles
• More real-world telemetry sources
• Advanced ML weather forecasting
• Expanded environmental datasets
• Additional optimization objectives
• Larger fleet-scale simulations
• Additional regulatory scenarios
• Real-time AIS integration (read-only)</a:t>
            </a:r>
          </a:p>
        </p:txBody>
      </p:sp>
      <p:sp>
        <p:nvSpPr>
          <p:cNvPr id="160" name="Rectangle 159"/>
          <p:cNvSpPr/>
          <p:nvPr/>
        </p:nvSpPr>
        <p:spPr>
          <a:xfrm>
            <a:off x="0" y="21204000"/>
            <a:ext cx="30275999" cy="180000"/>
          </a:xfrm>
          <a:prstGeom prst="rect">
            <a:avLst/>
          </a:prstGeom>
          <a:solidFill>
            <a:srgbClr val="0D2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08000" y="21222000"/>
            <a:ext cx="30060000" cy="144000"/>
          </a:xfrm>
          <a:prstGeom prst="rect">
            <a:avLst/>
          </a:prstGeom>
          <a:noFill/>
        </p:spPr>
        <p:txBody>
          <a:bodyPr wrap="square">
            <a:spAutoFit/>
          </a:bodyPr>
          <a:lstStyle/>
          <a:p>
            <a:pPr algn="ctr"/>
            <a:r>
              <a:rPr sz="600" b="0" i="0">
                <a:solidFill>
                  <a:srgbClr val="FFFFFF"/>
                </a:solidFill>
                <a:latin typeface="Calibri"/>
              </a:rPr>
              <a:t>Maritime Grids  |  Integrated Maritime Simulation &amp; Engineering Intelligence Platform  |  St. Vincent Pallotti College of Engineering &amp; Technology, Nagpur  |  2025–26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